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ce762e0-ec8c-4ab6-fb36-260df866e461}">
          <p14:sldIdLst>
            <p14:sldId id="256"/>
            <p14:sldId id="257"/>
          </p14:sldIdLst>
        </p14:section>
        <p14:section name="Method" id="{e30483ea-bf48-0236-573e-66d7cc885006}">
          <p14:sldIdLst>
            <p14:sldId id="258"/>
          </p14:sldIdLst>
        </p14:section>
        <p14:section name="Architecture" id="{90652380-67e1-3f79-6c92-dcfb746012d4}">
          <p14:sldIdLst>
            <p14:sldId id="259"/>
            <p14:sldId id="260"/>
            <p14:sldId id="261"/>
          </p14:sldIdLst>
        </p14:section>
        <p14:section name="Use cases" id="{96084ed7-7c3d-ed9e-6373-e30500d53617}">
          <p14:sldIdLst>
            <p14:sldId id="262"/>
            <p14:sldId id="263"/>
          </p14:sldIdLst>
        </p14:section>
        <p14:section name="Styles" id="{39fca910-2f80-c05a-5b6f-879b4fba9e51}">
          <p14:sldIdLst>
            <p14:sldId id="264"/>
            <p14:sldId id="265"/>
          </p14:sldIdLst>
        </p14:section>
        <p14:section name="Discussion" id="{00c9560b-c9fa-1198-9479-10e6a074e5d1}">
          <p14:sldIdLst>
            <p14:sldId id="266"/>
            <p14:sldId id="267"/>
            <p14:sldId id="268"/>
          </p14:sldIdLst>
        </p14:section>
        <p14:section name="Close" id="{06a7152e-a9be-eb3a-9c44-09d55b81b4cc}">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E1F66"/>
                </a:solidFill>
                <a:latin typeface="+mn-lt"/>
              </a:defRPr>
            </a:pPr>
            <a:r>
              <a:rPr sz="1200" b="0" i="0" u="none" strike="noStrike">
                <a:solidFill>
                  <a:srgbClr val="2E1F66"/>
                </a:solidFill>
                <a:latin typeface="+mn-lt"/>
              </a:rPr>
              <a:t>AI share of each phase</a:t>
            </a:r>
          </a:p>
        </c:rich>
      </c:tx>
      <c:layout/>
      <c:overlay val="0"/>
    </c:title>
    <c:autoTitleDeleted val="0"/>
    <c:plotArea>
      <c:layout/>
      <c:barChart>
        <c:barDir val="bar"/>
        <c:grouping val="clustered"/>
        <c:varyColors val="0"/>
        <c:ser>
          <c:idx val="0"/>
          <c:order val="0"/>
          <c:tx>
            <c:strRef>
              <c:f>Sheet1!$B$1</c:f>
              <c:strCache>
                <c:ptCount val="1"/>
                <c:pt idx="0">
                  <c:v>AI share</c:v>
                </c:pt>
              </c:strCache>
            </c:strRef>
          </c:tx>
          <c:spPr>
            <a:solidFill>
              <a:srgbClr val="6D4AE0"/>
            </a:solidFill>
            <a:effectLst/>
          </c:spPr>
          <c:invertIfNegative val="0"/>
          <c:dLbls>
            <c:numFmt formatCode="0&quot;%&quot;" sourceLinked="0"/>
            <c:txPr>
              <a:bodyPr/>
              <a:lstStyle/>
              <a:p>
                <a:pPr>
                  <a:defRPr b="0" i="0" strike="noStrike" sz="1100" u="none">
                    <a:solidFill>
                      <a:srgbClr val="1F1B2E"/>
                    </a:solidFill>
                    <a:latin typeface="+mn-lt"/>
                  </a:defRPr>
                </a:pPr>
              </a:p>
            </c:txPr>
            <c:showLegendKey val="0"/>
            <c:showVal val="1"/>
            <c:showCatName val="0"/>
            <c:showSerName val="0"/>
            <c:showPercent val="0"/>
            <c:showBubbleSize val="0"/>
            <c:showLeaderLines val="0"/>
          </c:dLbls>
          <c:cat>
            <c:multiLvlStrRef>
              <c:f>Sheet1!$A$2:$A$4</c:f>
              <c:multiLvlStrCache>
                <c:ptCount val="3"/>
                <c:lvl>
                  <c:pt idx="0">
                    <c:v>Research (30% of time)</c:v>
                  </c:pt>
                  <c:pt idx="1">
                    <c:v>Drafting (50%)</c:v>
                  </c:pt>
                  <c:pt idx="2">
                    <c:v>Review (20%)</c:v>
                  </c:pt>
                </c:lvl>
              </c:multiLvlStrCache>
            </c:multiLvlStrRef>
          </c:cat>
          <c:val>
            <c:numRef>
              <c:f>Sheet1!$B$2:$B$4</c:f>
              <c:numCache>
                <c:formatCode>General</c:formatCode>
                <c:ptCount val="3"/>
                <c:pt idx="0">
                  <c:v>25</c:v>
                </c:pt>
                <c:pt idx="1">
                  <c:v>5</c:v>
                </c:pt>
                <c:pt idx="2">
                  <c:v>30</c:v>
                </c:pt>
              </c:numCache>
            </c:numRef>
          </c:val>
        </c:ser>
        <c:dLbls>
          <c:numFmt formatCode="0&quot;%&quot;" sourceLinked="0"/>
          <c:txPr>
            <a:bodyPr/>
            <a:lstStyle/>
            <a:p>
              <a:pPr>
                <a:defRPr b="0" i="0" strike="noStrike" sz="1100" u="none">
                  <a:solidFill>
                    <a:srgbClr val="1F1B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1B2E"/>
                </a:solidFill>
                <a:latin typeface="+mn-lt"/>
              </a:defRPr>
            </a:pPr>
            <a:endParaRPr lang="en-US"/>
          </a:p>
        </c:txPr>
        <c:crossAx val="2094734552"/>
        <c:crosses val="autoZero"/>
        <c:auto val="1"/>
        <c:lblAlgn val="ctr"/>
        <c:noMultiLvlLbl val="1"/>
      </c:catAx>
      <c:valAx>
        <c:axId val="2094734552"/>
        <c:scaling>
          <c:orientation val="minMax"/>
          <c:max val="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0:23]  WezTerm: Conceptual Architecture
Hi everyone, we're TheZucks. In the next ten minutes we'll present the conceptual architecture of WezTerm, an open-source terminal emulator and multiplexer written in Rust. We'll cover how we derived it, its eight subsystems, two use cases, the architectural styles it uses, the alternatives we discarded, and what we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 – 0:55]  What WezTerm does
A terminal emulator sits between you and your shell: it turns keystrokes into bytes for the shell, and turns the shell's output into a picture on the screen. WezTerm does that on the GPU, and it adds a built-in multiplexer: tabs and split panes, like this window with three, plus sessions that keep running in a separate server process. And it has no settings menu; the configuration is a Lua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1:40]  How we derived the architecture
We derived the architecture in three steps. First, we read WezTerm's documentation and its repository's crate layout, alongside the course material on styles. Grouping related crates gave us eight candidate subsystems, and each of us researched one or two. Second, we traced two use cases through them as sequence diagrams. This showed behaviour the documentation didn't: output doesn't come back as one chain of calls. Third, we merged both diagrams: every lifeline became a box and every kind of message became an arrow. Then we checked in reverse, so every arrow is used by a use case or backed by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2:20]  Conceptual architecture
Here's the result: eight subsystems in four tiers. At the top are Entry, the GUI and Font shaping. Below is Configuration and Lua, which nearly everything reads from; those are the dashed arrows. In the middle are the Multiplexer and the Terminal Emulation Core, and at the bottom PTY and Process and the Client-Server layer. Solid arrows are calls, and green is a publish-subscribe notification. The tiers are a grouping, not a layered style: Entry calls the Mux directly, the Mux notifies the GUI upward, and Configuration serves every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3:01]  Eight subsystems, one job each
Each subsystem has one job. Entry starts every WezTerm process and routes its command. Configuration runs wezterm dot lua and reloads it when the file changes. The GUI owns windows and input and draws on the GPU. Font shaping turns text into glyphs. The Multiplexer is the centre: it owns every session as domains, windows, tabs and panes. The Terminal Core parses escape sequences and keeps the screen grid. PTY and Process runs the shell. And the Client-Server layer lets a headless mux server own sessions while a GUI attaches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 – 3:40]  Why the subsystems interact this way
Four interactions explain most of the design. First, every pane implements one Pane interface, so the GUI draws local and remote panes the same way. Second, the Mux never calls the renderer; it publishes a notification, which is why a mux server can run with no GUI. Third, a reader thread per pane parses output off the GUI thread, so heavy output never freezes the window. And fourth, configuration flows one way, read-only, into every subsystem, while Lua scripts can drive the Mux back through wezterm dot mux.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 – 4:39]  Use case 1: type a command, see the output
Use case one: you type ls and press Enter. Steps one to six are the input path. The GUI finds no shortcut and routes the key to the active pane in the Mux. The Terminal Core encodes it for the current terminal modes and writes it to the PTY, and the shell runs the command. Steps seven to thirteen are the output path. A reader thread in the Mux reads the bytes, parses them, and applies them to the Terminal Core, which bumps the sequence number of each changed line. The Mux then publishes PaneOutput, the green arrow. In steps fourteen to nineteen, the GUI fetches only the changed lines, shapes them and presents the frame. Every arrow maps to the box diagram: step nine is perform actions, step thirteen is the green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[4:39 – 5:28]  Use case 2: reconnect to a saved session
Use case two: reconnecting with wezterm connect unix. In steps one to seven, Entry hands the command to the GUI, which reads the unix domain from the configuration and creates a client domain in the local Mux. In steps eight to fourteen, the client agrees on a protocol version with the server, lists its panes, and builds matching proxy panes. They implement the same Pane interface, so the GUI doesn't know they're remote. In steps fifteen to twenty-two, the client fetches each pane's preserved lines as parsed cells, never raw bytes or pixels, and the same green notification as use case one triggers a redraw with the client's own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[5:28 – 6:10]  Style 1: client-server
Our first style is client-server. The service is session management: wezterm-mux-server owns the real terminals and PTYs, and the GUI connects as a client over a unix, SSH or TLS domain, all using one protocol. Use case two is this style end to end. The benefits: sessions outlive the GUI, TLS domains reconnect after a dropped connection, and the server never needs fonts or a display. The challenges: every remote keystroke is a network round trip, so local echo prediction adds complexity, and an SSH domain needs a compatible WezTerm on the remote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 – 6:49]  Style 2: implicit invocation (publish-subscribe)
Our second style is implicit invocation, or publish-subscribe: a component announces an event without knowing who responds. WezTerm uses it at two levels. The Mux announces that a pane changed and the GUI pulls the changed lines, and Lua scripts register callbacks with wezterm dot on. The benefits: the Mux doesn't depend on the GUI, nothing polls, and users extend WezTerm without changing Rust. The challenges: control flow is harder to trace, and a handler that returns false skips later ones, so one script can silently override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[6:49 – 7:33]  Alternatives we discarded
We discarded two alternatives. First, the GUI could own every session, PTY and shell directly. That's simpler, with fewer processes and no protocol or proxy panes, but sessions would end when the window closed, and reconnecting, use case two, would be much harder. Second, the Mux could call the GUI directly, or the GUI could poll every pane. Direct calls are easy to follow but couple the Mux to the renderer and rule out a headless server. Polling wastes work on unchanged panes and delays redraws. Each would simplify one part but give up a benefit of the chosen styles.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[7:33 – 8:18]  Limitations and lessons learned
Two limitations first. Our architecture comes from documentation and the repository layout, not verified source code; A2 will test it. And two use cases leave paths untraced, like SSH setup and configuration reload. Now our lessons. Trace behaviour before describing structure: our early section three text had the GUI polling the Mux, until the merge review compared it with the use case one diagram, which shows the notification. Small diagram changes ripple, so step numbers became shared references. Crates are not the architecture; we grouped by responsibility, not folder. And six writers need one vocabulary, taken from the final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[8:18 – 9:02]  Our AI teammate
Our AI teammate. Five of us used Claude Opus 5.5 for long inputs, code structure and reading diagram images; Rahul used ChatGPT for explanation and brainstorming. It had four tasks, none involving architecture decisions: explaining subsystems, checking diagrams against our write-ups, revising sections to match the final diagrams, and finding inconsistencies during the merge. Every prompt carried our own material and one specific question, every session was logged, and nothing was used until checked against wezterm.org or the repository. Weighted by phase, it contributed about fifteen percent. It was most valuable as a reviewer, not a source of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[9:02 – 9:23]  Conclusion
To conclude: WezTerm is organized around the Multiplexer. One Pane interface treats local and remote sessions alike, the client-server split lets sessions outlive the window, and publish-subscribe lets the Mux report output without depending on the renderer. The design trades simplicity for capability.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accent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754880" cy="868680"/>
          </a:xfrm>
          <a:prstGeom prst="rect">
            <a:avLst/>
          </a:prstGeom>
          <a:noFill/>
          <a:ln/>
        </p:spPr>
        <p:txBody>
          <a:bodyPr wrap="square" rtlCol="0"/>
          <a:lstStyle>
            <a:lvl1pPr algn="l" indent="0" marL="0">
              <a:buNone/>
              <a:defRPr lang="en-US" sz="5400" b="1" dirty="0">
                <a:solidFill>
                  <a:schemeClr val="bg1"/>
                </a:solidFill>
                <a:latin typeface="Arial" pitchFamily="34" charset="0"/>
                <a:ea typeface="Arial" pitchFamily="34" charset="-122"/>
                <a:cs typeface="Arial" pitchFamily="34" charset="-120"/>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2">
    <p:bg>
      <p:bgPr>
        <a:solidFill>
          <a:schemeClr val="accent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315200" cy="685800"/>
          </a:xfrm>
          <a:prstGeom prst="rect">
            <a:avLst/>
          </a:prstGeom>
          <a:noFill/>
          <a:ln/>
        </p:spPr>
        <p:txBody>
          <a:bodyPr wrap="square" rtlCol="0"/>
          <a:lstStyle>
            <a:lvl1pPr algn="l" indent="0" marL="0">
              <a:buNone/>
              <a:defRPr lang="en-US" sz="3600" b="1" dirty="0">
                <a:solidFill>
                  <a:schemeClr val="bg1"/>
                </a:solidFill>
                <a:latin typeface="Arial" pitchFamily="34" charset="0"/>
                <a:ea typeface="Arial" pitchFamily="34" charset="-122"/>
                <a:cs typeface="Arial"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rtlCol="0"/>
          <a:lstStyle>
            <a:lvl1pPr algn="l" indent="0" marL="0">
              <a:buNone/>
              <a:defRPr lang="en-US" sz="2600" b="1" dirty="0">
                <a:solidFill>
                  <a:schemeClr val="tx2"/>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754880" cy="86868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WezTerm</a:t>
            </a:r>
            <a:endParaRPr lang="en-US" sz="5400" dirty="0"/>
          </a:p>
        </p:txBody>
      </p:sp>
      <p:sp>
        <p:nvSpPr>
          <p:cNvPr id="3" name="Text 1"/>
          <p:cNvSpPr txBox="1"/>
          <p:nvPr/>
        </p:nvSpPr>
        <p:spPr>
          <a:xfrm>
            <a:off x="548640" y="2194560"/>
            <a:ext cx="4754880" cy="457200"/>
          </a:xfrm>
          <a:prstGeom prst="rect">
            <a:avLst/>
          </a:prstGeom>
          <a:noFill/>
          <a:ln/>
        </p:spPr>
        <p:txBody>
          <a:bodyPr wrap="square" lIns="0" tIns="0" rIns="0" bIns="0" rtlCol="0" anchor="t"/>
          <a:lstStyle/>
          <a:p>
            <a:pPr indent="0" marL="0">
              <a:buNone/>
            </a:pPr>
            <a:r>
              <a:rPr lang="en-US" sz="2400" dirty="0">
                <a:solidFill>
                  <a:schemeClr val="accent5"/>
                </a:solidFill>
              </a:rPr>
              <a:t>Conceptual Architecture</a:t>
            </a:r>
            <a:endParaRPr lang="en-US" sz="2400" dirty="0"/>
          </a:p>
        </p:txBody>
      </p:sp>
      <p:sp>
        <p:nvSpPr>
          <p:cNvPr id="4" name="Text 2"/>
          <p:cNvSpPr txBox="1"/>
          <p:nvPr/>
        </p:nvSpPr>
        <p:spPr>
          <a:xfrm>
            <a:off x="548640" y="2651760"/>
            <a:ext cx="4754880" cy="320040"/>
          </a:xfrm>
          <a:prstGeom prst="rect">
            <a:avLst/>
          </a:prstGeom>
          <a:noFill/>
          <a:ln/>
        </p:spPr>
        <p:txBody>
          <a:bodyPr wrap="square" lIns="0" tIns="0" rIns="0" bIns="0" rtlCol="0" anchor="t"/>
          <a:lstStyle/>
          <a:p>
            <a:pPr indent="0" marL="0">
              <a:buNone/>
            </a:pPr>
            <a:r>
              <a:rPr lang="en-US" sz="1500" dirty="0">
                <a:solidFill>
                  <a:schemeClr val="accent5"/>
                </a:solidFill>
              </a:rPr>
              <a:t>CISC 322/326 · Assignment 1</a:t>
            </a:r>
            <a:endParaRPr lang="en-US" sz="1500" dirty="0"/>
          </a:p>
        </p:txBody>
      </p:sp>
      <p:sp>
        <p:nvSpPr>
          <p:cNvPr id="5" name="Shape 3"/>
          <p:cNvSpPr/>
          <p:nvPr/>
        </p:nvSpPr>
        <p:spPr>
          <a:xfrm>
            <a:off x="548640" y="3200400"/>
            <a:ext cx="1463040" cy="384048"/>
          </a:xfrm>
          <a:prstGeom prst="roundRect">
            <a:avLst>
              <a:gd name="adj" fmla="val 19048"/>
            </a:avLst>
          </a:prstGeom>
          <a:solidFill>
            <a:schemeClr val="accent2"/>
          </a:solidFill>
          <a:ln w="12700">
            <a:solidFill>
              <a:schemeClr val="accent2"/>
            </a:solidFill>
            <a:prstDash val="solid"/>
          </a:ln>
        </p:spPr>
      </p:sp>
      <p:sp>
        <p:nvSpPr>
          <p:cNvPr id="6" name="Text 4"/>
          <p:cNvSpPr txBox="1"/>
          <p:nvPr/>
        </p:nvSpPr>
        <p:spPr>
          <a:xfrm>
            <a:off x="548640" y="3200400"/>
            <a:ext cx="1463040"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TheZucks</a:t>
            </a:r>
            <a:endParaRPr lang="en-US" sz="1500" dirty="0"/>
          </a:p>
        </p:txBody>
      </p:sp>
      <p:sp>
        <p:nvSpPr>
          <p:cNvPr id="7" name="Text 5"/>
          <p:cNvSpPr txBox="1"/>
          <p:nvPr/>
        </p:nvSpPr>
        <p:spPr>
          <a:xfrm>
            <a:off x="548640" y="3749040"/>
            <a:ext cx="4754880" cy="320040"/>
          </a:xfrm>
          <a:prstGeom prst="rect">
            <a:avLst/>
          </a:prstGeom>
          <a:noFill/>
          <a:ln/>
        </p:spPr>
        <p:txBody>
          <a:bodyPr wrap="square" lIns="0" tIns="0" rIns="0" bIns="0" rtlCol="0" anchor="t"/>
          <a:lstStyle/>
          <a:p>
            <a:pPr indent="0" marL="0">
              <a:buNone/>
            </a:pPr>
            <a:r>
              <a:rPr lang="en-US" sz="1400" dirty="0">
                <a:solidFill>
                  <a:schemeClr val="bg1"/>
                </a:solidFill>
              </a:rPr>
              <a:t>Armaan · Arnav · Avaneesh · Dagi · Ibraheem · Rahul</a:t>
            </a:r>
            <a:endParaRPr lang="en-US" sz="1400" dirty="0"/>
          </a:p>
        </p:txBody>
      </p:sp>
      <p:sp>
        <p:nvSpPr>
          <p:cNvPr id="8" name="Text 6"/>
          <p:cNvSpPr txBox="1"/>
          <p:nvPr/>
        </p:nvSpPr>
        <p:spPr>
          <a:xfrm>
            <a:off x="548640" y="4114800"/>
            <a:ext cx="4754880" cy="274320"/>
          </a:xfrm>
          <a:prstGeom prst="rect">
            <a:avLst/>
          </a:prstGeom>
          <a:noFill/>
          <a:ln/>
        </p:spPr>
        <p:txBody>
          <a:bodyPr wrap="square" lIns="0" tIns="0" rIns="0" bIns="0" rtlCol="0" anchor="t"/>
          <a:lstStyle/>
          <a:p>
            <a:pPr indent="0" marL="0">
              <a:buNone/>
            </a:pPr>
            <a:r>
              <a:rPr lang="en-US" sz="1200" dirty="0">
                <a:solidFill>
                  <a:schemeClr val="accent5"/>
                </a:solidFill>
              </a:rPr>
              <a:t>October 9, 2026</a:t>
            </a:r>
            <a:endParaRPr lang="en-US" sz="1200" dirty="0"/>
          </a:p>
        </p:txBody>
      </p:sp>
      <p:sp>
        <p:nvSpPr>
          <p:cNvPr id="9" name="Shape 7"/>
          <p:cNvSpPr/>
          <p:nvPr/>
        </p:nvSpPr>
        <p:spPr>
          <a:xfrm>
            <a:off x="5486400" y="1234440"/>
            <a:ext cx="3200400" cy="2651760"/>
          </a:xfrm>
          <a:prstGeom prst="roundRect">
            <a:avLst>
              <a:gd name="adj" fmla="val 4138"/>
            </a:avLst>
          </a:prstGeom>
          <a:solidFill>
            <a:srgbClr val="2A2148"/>
          </a:solidFill>
          <a:ln w="12700">
            <a:solidFill>
              <a:srgbClr val="4B3F86"/>
            </a:solidFill>
            <a:prstDash val="solid"/>
          </a:ln>
        </p:spPr>
      </p:sp>
      <p:sp>
        <p:nvSpPr>
          <p:cNvPr id="10" name="Shape 8"/>
          <p:cNvSpPr/>
          <p:nvPr/>
        </p:nvSpPr>
        <p:spPr>
          <a:xfrm>
            <a:off x="5669280" y="1389888"/>
            <a:ext cx="128016" cy="128016"/>
          </a:xfrm>
          <a:prstGeom prst="ellipse">
            <a:avLst/>
          </a:prstGeom>
          <a:solidFill>
            <a:srgbClr val="F87171"/>
          </a:solidFill>
          <a:ln w="12700">
            <a:solidFill>
              <a:srgbClr val="F87171"/>
            </a:solidFill>
            <a:prstDash val="solid"/>
          </a:ln>
        </p:spPr>
      </p:sp>
      <p:sp>
        <p:nvSpPr>
          <p:cNvPr id="11" name="Shape 9"/>
          <p:cNvSpPr/>
          <p:nvPr/>
        </p:nvSpPr>
        <p:spPr>
          <a:xfrm>
            <a:off x="5870448" y="1389888"/>
            <a:ext cx="128016" cy="128016"/>
          </a:xfrm>
          <a:prstGeom prst="ellipse">
            <a:avLst/>
          </a:prstGeom>
          <a:solidFill>
            <a:srgbClr val="FBBF24"/>
          </a:solidFill>
          <a:ln w="12700">
            <a:solidFill>
              <a:srgbClr val="FBBF24"/>
            </a:solidFill>
            <a:prstDash val="solid"/>
          </a:ln>
        </p:spPr>
      </p:sp>
      <p:sp>
        <p:nvSpPr>
          <p:cNvPr id="12" name="Shape 10"/>
          <p:cNvSpPr/>
          <p:nvPr/>
        </p:nvSpPr>
        <p:spPr>
          <a:xfrm>
            <a:off x="6071616" y="1389888"/>
            <a:ext cx="128016" cy="128016"/>
          </a:xfrm>
          <a:prstGeom prst="ellipse">
            <a:avLst/>
          </a:prstGeom>
          <a:solidFill>
            <a:srgbClr val="34D399"/>
          </a:solidFill>
          <a:ln w="12700">
            <a:solidFill>
              <a:srgbClr val="34D399"/>
            </a:solidFill>
            <a:prstDash val="solid"/>
          </a:ln>
        </p:spPr>
      </p:sp>
      <p:sp>
        <p:nvSpPr>
          <p:cNvPr id="13" name="Text 11"/>
          <p:cNvSpPr txBox="1"/>
          <p:nvPr/>
        </p:nvSpPr>
        <p:spPr>
          <a:xfrm>
            <a:off x="5669280" y="1691640"/>
            <a:ext cx="2880360" cy="2011680"/>
          </a:xfrm>
          <a:prstGeom prst="rect">
            <a:avLst/>
          </a:prstGeom>
          <a:noFill/>
          <a:ln/>
        </p:spPr>
        <p:txBody>
          <a:bodyPr wrap="square" lIns="0" tIns="0" rIns="0" bIns="0" rtlCol="0" anchor="t"/>
          <a:lstStyle/>
          <a:p>
            <a:pPr indent="0" marL="0">
              <a:spcAft>
                <a:spcPts val="600"/>
              </a:spcAft>
              <a:buNone/>
            </a:pPr>
            <a:r>
              <a:rPr lang="en-US" sz="1200" dirty="0">
                <a:solidFill>
                  <a:srgbClr val="34D399"/>
                </a:solidFill>
                <a:latin typeface="Courier New" pitchFamily="34" charset="0"/>
                <a:ea typeface="Courier New" pitchFamily="34" charset="-122"/>
                <a:cs typeface="Courier New" pitchFamily="34" charset="-120"/>
              </a:rPr>
              <a:t>$ </a:t>
            </a:r>
            <a:pPr indent="0" marL="0">
              <a:spcAft>
                <a:spcPts val="600"/>
              </a:spcAft>
              <a:buNone/>
            </a:pPr>
            <a:r>
              <a:rPr lang="en-US" sz="1200" dirty="0">
                <a:solidFill>
                  <a:srgbClr val="FFFFFF"/>
                </a:solidFill>
                <a:latin typeface="Courier New" pitchFamily="34" charset="0"/>
                <a:ea typeface="Courier New" pitchFamily="34" charset="-122"/>
                <a:cs typeface="Courier New" pitchFamily="34" charset="-120"/>
              </a:rPr>
              <a:t>wezterm connect unix</a:t>
            </a:r>
            <a:endParaRPr lang="en-US" sz="1200" dirty="0"/>
          </a:p>
          <a:p>
            <a:pPr indent="0" marL="0">
              <a:spcAft>
                <a:spcPts val="600"/>
              </a:spcAft>
              <a:buNone/>
            </a:pPr>
            <a:r>
              <a:rPr lang="en-US" sz="1200" dirty="0">
                <a:solidFill>
                  <a:srgbClr val="A5B4FC"/>
                </a:solidFill>
                <a:latin typeface="Courier New" pitchFamily="34" charset="0"/>
                <a:ea typeface="Courier New" pitchFamily="34" charset="-122"/>
                <a:cs typeface="Courier New" pitchFamily="34" charset="-120"/>
              </a:rPr>
              <a:t>  3 panes restored</a:t>
            </a:r>
            <a:endParaRPr lang="en-US" sz="1200" dirty="0"/>
          </a:p>
          <a:p>
            <a:pPr indent="0" marL="0">
              <a:spcAft>
                <a:spcPts val="600"/>
              </a:spcAft>
              <a:buNone/>
            </a:pPr>
            <a:r>
              <a:rPr lang="en-US" sz="1200" dirty="0">
                <a:solidFill>
                  <a:srgbClr val="34D399"/>
                </a:solidFill>
                <a:latin typeface="Courier New" pitchFamily="34" charset="0"/>
                <a:ea typeface="Courier New" pitchFamily="34" charset="-122"/>
                <a:cs typeface="Courier New" pitchFamily="34" charset="-120"/>
              </a:rPr>
              <a:t>$ </a:t>
            </a:r>
            <a:pPr indent="0" marL="0">
              <a:spcAft>
                <a:spcPts val="600"/>
              </a:spcAft>
              <a:buNone/>
            </a:pPr>
            <a:r>
              <a:rPr lang="en-US" sz="1200" dirty="0">
                <a:solidFill>
                  <a:srgbClr val="FFFFFF"/>
                </a:solidFill>
                <a:latin typeface="Courier New" pitchFamily="34" charset="0"/>
                <a:ea typeface="Courier New" pitchFamily="34" charset="-122"/>
                <a:cs typeface="Courier New" pitchFamily="34" charset="-120"/>
              </a:rPr>
              <a:t>ls</a:t>
            </a:r>
            <a:endParaRPr lang="en-US" sz="1200" dirty="0"/>
          </a:p>
          <a:p>
            <a:pPr indent="0" marL="0">
              <a:spcAft>
                <a:spcPts val="600"/>
              </a:spcAft>
              <a:buNone/>
            </a:pPr>
            <a:r>
              <a:rPr lang="en-US" sz="1200" dirty="0">
                <a:solidFill>
                  <a:srgbClr val="A5B4FC"/>
                </a:solidFill>
                <a:latin typeface="Courier New" pitchFamily="34" charset="0"/>
                <a:ea typeface="Courier New" pitchFamily="34" charset="-122"/>
                <a:cs typeface="Courier New" pitchFamily="34" charset="-120"/>
              </a:rPr>
              <a:t>  report.pdf  slides.pptx</a:t>
            </a:r>
            <a:endParaRPr lang="en-US" sz="1200" dirty="0"/>
          </a:p>
          <a:p>
            <a:pPr indent="0" marL="0">
              <a:spcAft>
                <a:spcPts val="600"/>
              </a:spcAft>
              <a:buNone/>
            </a:pPr>
            <a:r>
              <a:rPr lang="en-US" sz="1200" dirty="0">
                <a:solidFill>
                  <a:srgbClr val="34D399"/>
                </a:solidFill>
                <a:latin typeface="Courier New" pitchFamily="34" charset="0"/>
                <a:ea typeface="Courier New" pitchFamily="34" charset="-122"/>
                <a:cs typeface="Courier New" pitchFamily="34" charset="-120"/>
              </a:rPr>
              <a:t>$ </a:t>
            </a:r>
            <a:pPr indent="0" marL="0">
              <a:spcAft>
                <a:spcPts val="600"/>
              </a:spcAft>
              <a:buNone/>
            </a:pPr>
            <a:r>
              <a:rPr lang="en-US" sz="1200" dirty="0">
                <a:solidFill>
                  <a:srgbClr val="34D399"/>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What WezTerm does</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intro</a:t>
            </a:r>
            <a:endParaRPr lang="en-US" sz="1200" dirty="0"/>
          </a:p>
        </p:txBody>
      </p:sp>
      <p:sp>
        <p:nvSpPr>
          <p:cNvPr id="5" name="iconBg"/>
          <p:cNvSpPr/>
          <p:nvPr/>
        </p:nvSpPr>
        <p:spPr>
          <a:xfrm>
            <a:off x="411480" y="960120"/>
            <a:ext cx="502920" cy="502920"/>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522122" y="1070762"/>
            <a:ext cx="281635" cy="281635"/>
          </a:xfrm>
          <a:prstGeom prst="rect">
            <a:avLst/>
          </a:prstGeom>
        </p:spPr>
      </p:pic>
      <p:sp>
        <p:nvSpPr>
          <p:cNvPr id="7" name="Text 4"/>
          <p:cNvSpPr txBox="1"/>
          <p:nvPr/>
        </p:nvSpPr>
        <p:spPr>
          <a:xfrm>
            <a:off x="1097280" y="941832"/>
            <a:ext cx="3291840" cy="292608"/>
          </a:xfrm>
          <a:prstGeom prst="rect">
            <a:avLst/>
          </a:prstGeom>
          <a:noFill/>
          <a:ln/>
        </p:spPr>
        <p:txBody>
          <a:bodyPr wrap="square" lIns="0" tIns="0" rIns="0" bIns="0" rtlCol="0" anchor="t"/>
          <a:lstStyle/>
          <a:p>
            <a:pPr indent="0" marL="0">
              <a:buNone/>
            </a:pPr>
            <a:r>
              <a:rPr lang="en-US" sz="1600" b="1" dirty="0">
                <a:solidFill>
                  <a:schemeClr val="tx2"/>
                </a:solidFill>
              </a:rPr>
              <a:t>Terminal emulator</a:t>
            </a:r>
            <a:endParaRPr lang="en-US" sz="1600" dirty="0"/>
          </a:p>
        </p:txBody>
      </p:sp>
      <p:sp>
        <p:nvSpPr>
          <p:cNvPr id="8" name="Text 5"/>
          <p:cNvSpPr txBox="1"/>
          <p:nvPr/>
        </p:nvSpPr>
        <p:spPr>
          <a:xfrm>
            <a:off x="1097280" y="1252728"/>
            <a:ext cx="3291840" cy="457200"/>
          </a:xfrm>
          <a:prstGeom prst="rect">
            <a:avLst/>
          </a:prstGeom>
          <a:noFill/>
          <a:ln/>
        </p:spPr>
        <p:txBody>
          <a:bodyPr wrap="square" lIns="0" tIns="0" rIns="0" bIns="0" rtlCol="0" anchor="t"/>
          <a:lstStyle/>
          <a:p>
            <a:pPr indent="0" marL="0">
              <a:buNone/>
            </a:pPr>
            <a:r>
              <a:rPr lang="en-US" sz="1400" dirty="0">
                <a:solidFill>
                  <a:schemeClr val="tx1"/>
                </a:solidFill>
              </a:rPr>
              <a:t>Keystrokes to the shell, output to the screen, on the GPU</a:t>
            </a:r>
            <a:endParaRPr lang="en-US" sz="1400" dirty="0"/>
          </a:p>
        </p:txBody>
      </p:sp>
      <p:sp>
        <p:nvSpPr>
          <p:cNvPr id="9" name="iconBg"/>
          <p:cNvSpPr/>
          <p:nvPr/>
        </p:nvSpPr>
        <p:spPr>
          <a:xfrm>
            <a:off x="411480" y="1856232"/>
            <a:ext cx="502920" cy="50292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522122" y="1966874"/>
            <a:ext cx="281635" cy="281635"/>
          </a:xfrm>
          <a:prstGeom prst="rect">
            <a:avLst/>
          </a:prstGeom>
        </p:spPr>
      </p:pic>
      <p:sp>
        <p:nvSpPr>
          <p:cNvPr id="11" name="Text 7"/>
          <p:cNvSpPr txBox="1"/>
          <p:nvPr/>
        </p:nvSpPr>
        <p:spPr>
          <a:xfrm>
            <a:off x="1097280" y="1837944"/>
            <a:ext cx="3291840" cy="292608"/>
          </a:xfrm>
          <a:prstGeom prst="rect">
            <a:avLst/>
          </a:prstGeom>
          <a:noFill/>
          <a:ln/>
        </p:spPr>
        <p:txBody>
          <a:bodyPr wrap="square" lIns="0" tIns="0" rIns="0" bIns="0" rtlCol="0" anchor="t"/>
          <a:lstStyle/>
          <a:p>
            <a:pPr indent="0" marL="0">
              <a:buNone/>
            </a:pPr>
            <a:r>
              <a:rPr lang="en-US" sz="1600" b="1" dirty="0">
                <a:solidFill>
                  <a:schemeClr val="tx2"/>
                </a:solidFill>
              </a:rPr>
              <a:t>Built-in multiplexer</a:t>
            </a:r>
            <a:endParaRPr lang="en-US" sz="1600" dirty="0"/>
          </a:p>
        </p:txBody>
      </p:sp>
      <p:sp>
        <p:nvSpPr>
          <p:cNvPr id="12" name="Text 8"/>
          <p:cNvSpPr txBox="1"/>
          <p:nvPr/>
        </p:nvSpPr>
        <p:spPr>
          <a:xfrm>
            <a:off x="1097280" y="2148840"/>
            <a:ext cx="3291840" cy="457200"/>
          </a:xfrm>
          <a:prstGeom prst="rect">
            <a:avLst/>
          </a:prstGeom>
          <a:noFill/>
          <a:ln/>
        </p:spPr>
        <p:txBody>
          <a:bodyPr wrap="square" lIns="0" tIns="0" rIns="0" bIns="0" rtlCol="0" anchor="t"/>
          <a:lstStyle/>
          <a:p>
            <a:pPr indent="0" marL="0">
              <a:buNone/>
            </a:pPr>
            <a:r>
              <a:rPr lang="en-US" sz="1400" dirty="0">
                <a:solidFill>
                  <a:schemeClr val="tx1"/>
                </a:solidFill>
              </a:rPr>
              <a:t>Tabs and split panes, no tmux needed</a:t>
            </a:r>
            <a:endParaRPr lang="en-US" sz="1400" dirty="0"/>
          </a:p>
        </p:txBody>
      </p:sp>
      <p:sp>
        <p:nvSpPr>
          <p:cNvPr id="13" name="iconBg"/>
          <p:cNvSpPr/>
          <p:nvPr/>
        </p:nvSpPr>
        <p:spPr>
          <a:xfrm>
            <a:off x="411480" y="2752344"/>
            <a:ext cx="502920" cy="502920"/>
          </a:xfrm>
          <a:prstGeom prst="ellipse">
            <a:avLst/>
          </a:prstGeom>
          <a:solidFill>
            <a:schemeClr val="accent2"/>
          </a:solidFill>
          <a:ln w="12700">
            <a:solidFill>
              <a:schemeClr val="accent2"/>
            </a:solidFill>
            <a:prstDash val="solid"/>
          </a:ln>
        </p:spPr>
      </p:sp>
      <p:pic>
        <p:nvPicPr>
          <p:cNvPr id="14" name="icon" descr="preencoded.png">    </p:cNvPr>
          <p:cNvPicPr>
            <a:picLocks noChangeAspect="1"/>
          </p:cNvPicPr>
          <p:nvPr/>
        </p:nvPicPr>
        <p:blipFill>
          <a:blip r:embed="rId3"/>
          <a:stretch>
            <a:fillRect/>
          </a:stretch>
        </p:blipFill>
        <p:spPr>
          <a:xfrm>
            <a:off x="522122" y="2862986"/>
            <a:ext cx="281635" cy="281635"/>
          </a:xfrm>
          <a:prstGeom prst="rect">
            <a:avLst/>
          </a:prstGeom>
        </p:spPr>
      </p:pic>
      <p:sp>
        <p:nvSpPr>
          <p:cNvPr id="15" name="Text 10"/>
          <p:cNvSpPr txBox="1"/>
          <p:nvPr/>
        </p:nvSpPr>
        <p:spPr>
          <a:xfrm>
            <a:off x="1097280" y="2734056"/>
            <a:ext cx="3291840" cy="292608"/>
          </a:xfrm>
          <a:prstGeom prst="rect">
            <a:avLst/>
          </a:prstGeom>
          <a:noFill/>
          <a:ln/>
        </p:spPr>
        <p:txBody>
          <a:bodyPr wrap="square" lIns="0" tIns="0" rIns="0" bIns="0" rtlCol="0" anchor="t"/>
          <a:lstStyle/>
          <a:p>
            <a:pPr indent="0" marL="0">
              <a:buNone/>
            </a:pPr>
            <a:r>
              <a:rPr lang="en-US" sz="1600" b="1" dirty="0">
                <a:solidFill>
                  <a:schemeClr val="tx2"/>
                </a:solidFill>
              </a:rPr>
              <a:t>Persistent sessions</a:t>
            </a:r>
            <a:endParaRPr lang="en-US" sz="1600" dirty="0"/>
          </a:p>
        </p:txBody>
      </p:sp>
      <p:sp>
        <p:nvSpPr>
          <p:cNvPr id="16" name="Text 11"/>
          <p:cNvSpPr txBox="1"/>
          <p:nvPr/>
        </p:nvSpPr>
        <p:spPr>
          <a:xfrm>
            <a:off x="1097280" y="3044952"/>
            <a:ext cx="3291840" cy="457200"/>
          </a:xfrm>
          <a:prstGeom prst="rect">
            <a:avLst/>
          </a:prstGeom>
          <a:noFill/>
          <a:ln/>
        </p:spPr>
        <p:txBody>
          <a:bodyPr wrap="square" lIns="0" tIns="0" rIns="0" bIns="0" rtlCol="0" anchor="t"/>
          <a:lstStyle/>
          <a:p>
            <a:pPr indent="0" marL="0">
              <a:buNone/>
            </a:pPr>
            <a:r>
              <a:rPr lang="en-US" sz="1400" dirty="0">
                <a:solidFill>
                  <a:schemeClr val="tx1"/>
                </a:solidFill>
              </a:rPr>
              <a:t>Sessions keep running in a separate server process</a:t>
            </a:r>
            <a:endParaRPr lang="en-US" sz="1400" dirty="0"/>
          </a:p>
        </p:txBody>
      </p:sp>
      <p:sp>
        <p:nvSpPr>
          <p:cNvPr id="17" name="iconBg"/>
          <p:cNvSpPr/>
          <p:nvPr/>
        </p:nvSpPr>
        <p:spPr>
          <a:xfrm>
            <a:off x="411480" y="3648456"/>
            <a:ext cx="502920" cy="502920"/>
          </a:xfrm>
          <a:prstGeom prst="ellipse">
            <a:avLst/>
          </a:prstGeom>
          <a:solidFill>
            <a:schemeClr val="accent3"/>
          </a:solidFill>
          <a:ln w="12700">
            <a:solidFill>
              <a:schemeClr val="accent3"/>
            </a:solidFill>
            <a:prstDash val="solid"/>
          </a:ln>
        </p:spPr>
      </p:sp>
      <p:pic>
        <p:nvPicPr>
          <p:cNvPr id="18" name="icon" descr="preencoded.png">    </p:cNvPr>
          <p:cNvPicPr>
            <a:picLocks noChangeAspect="1"/>
          </p:cNvPicPr>
          <p:nvPr/>
        </p:nvPicPr>
        <p:blipFill>
          <a:blip r:embed="rId4"/>
          <a:stretch>
            <a:fillRect/>
          </a:stretch>
        </p:blipFill>
        <p:spPr>
          <a:xfrm>
            <a:off x="522122" y="3759098"/>
            <a:ext cx="281635" cy="281635"/>
          </a:xfrm>
          <a:prstGeom prst="rect">
            <a:avLst/>
          </a:prstGeom>
        </p:spPr>
      </p:pic>
      <p:sp>
        <p:nvSpPr>
          <p:cNvPr id="19" name="Text 13"/>
          <p:cNvSpPr txBox="1"/>
          <p:nvPr/>
        </p:nvSpPr>
        <p:spPr>
          <a:xfrm>
            <a:off x="1097280" y="3630168"/>
            <a:ext cx="3291840" cy="292608"/>
          </a:xfrm>
          <a:prstGeom prst="rect">
            <a:avLst/>
          </a:prstGeom>
          <a:noFill/>
          <a:ln/>
        </p:spPr>
        <p:txBody>
          <a:bodyPr wrap="square" lIns="0" tIns="0" rIns="0" bIns="0" rtlCol="0" anchor="t"/>
          <a:lstStyle/>
          <a:p>
            <a:pPr indent="0" marL="0">
              <a:buNone/>
            </a:pPr>
            <a:r>
              <a:rPr lang="en-US" sz="1600" b="1" dirty="0">
                <a:solidFill>
                  <a:schemeClr val="tx2"/>
                </a:solidFill>
              </a:rPr>
              <a:t>Configuration is code</a:t>
            </a:r>
            <a:endParaRPr lang="en-US" sz="1600" dirty="0"/>
          </a:p>
        </p:txBody>
      </p:sp>
      <p:sp>
        <p:nvSpPr>
          <p:cNvPr id="20" name="Text 14"/>
          <p:cNvSpPr txBox="1"/>
          <p:nvPr/>
        </p:nvSpPr>
        <p:spPr>
          <a:xfrm>
            <a:off x="1097280" y="3941064"/>
            <a:ext cx="3291840" cy="457200"/>
          </a:xfrm>
          <a:prstGeom prst="rect">
            <a:avLst/>
          </a:prstGeom>
          <a:noFill/>
          <a:ln/>
        </p:spPr>
        <p:txBody>
          <a:bodyPr wrap="square" lIns="0" tIns="0" rIns="0" bIns="0" rtlCol="0" anchor="t"/>
          <a:lstStyle/>
          <a:p>
            <a:pPr indent="0" marL="0">
              <a:buNone/>
            </a:pPr>
            <a:r>
              <a:rPr lang="en-US" sz="1400" dirty="0">
                <a:solidFill>
                  <a:schemeClr val="tx1"/>
                </a:solidFill>
              </a:rPr>
              <a:t>A Lua script, wezterm.lua, instead of a settings menu</a:t>
            </a:r>
            <a:endParaRPr lang="en-US" sz="1400" dirty="0"/>
          </a:p>
        </p:txBody>
      </p:sp>
      <p:pic>
        <p:nvPicPr>
          <p:cNvPr id="21" name="screenshot" descr="img/panes.png">    </p:cNvPr>
          <p:cNvPicPr>
            <a:picLocks noChangeAspect="1"/>
          </p:cNvPicPr>
          <p:nvPr/>
        </p:nvPicPr>
        <p:blipFill>
          <a:blip r:embed="rId5"/>
          <a:stretch>
            <a:fillRect/>
          </a:stretch>
        </p:blipFill>
        <p:spPr>
          <a:xfrm>
            <a:off x="4663440" y="960120"/>
            <a:ext cx="4069080" cy="2581904"/>
          </a:xfrm>
          <a:prstGeom prst="rect">
            <a:avLst/>
          </a:prstGeom>
        </p:spPr>
      </p:pic>
      <p:sp>
        <p:nvSpPr>
          <p:cNvPr id="22" name="Text 15"/>
          <p:cNvSpPr txBox="1"/>
          <p:nvPr/>
        </p:nvSpPr>
        <p:spPr>
          <a:xfrm>
            <a:off x="4663440" y="3611880"/>
            <a:ext cx="4069080" cy="228600"/>
          </a:xfrm>
          <a:prstGeom prst="rect">
            <a:avLst/>
          </a:prstGeom>
          <a:noFill/>
          <a:ln/>
        </p:spPr>
        <p:txBody>
          <a:bodyPr wrap="square" lIns="0" tIns="0" rIns="0" bIns="0" rtlCol="0" anchor="t"/>
          <a:lstStyle/>
          <a:p>
            <a:pPr indent="0" marL="0">
              <a:buNone/>
            </a:pPr>
            <a:r>
              <a:rPr lang="en-US" sz="1000" i="1" dirty="0">
                <a:solidFill>
                  <a:schemeClr val="accent4"/>
                </a:solidFill>
              </a:rPr>
              <a:t>One window, three panes (screenshot: wezterm.org docs)</a:t>
            </a:r>
            <a:endParaRPr lang="en-US" sz="1000" dirty="0"/>
          </a:p>
        </p:txBody>
      </p:sp>
      <p:sp>
        <p:nvSpPr>
          <p:cNvPr id="23" name="card"/>
          <p:cNvSpPr/>
          <p:nvPr/>
        </p:nvSpPr>
        <p:spPr>
          <a:xfrm>
            <a:off x="4663440" y="3977640"/>
            <a:ext cx="4069080" cy="731520"/>
          </a:xfrm>
          <a:prstGeom prst="roundRect">
            <a:avLst>
              <a:gd name="adj" fmla="val 12500"/>
            </a:avLst>
          </a:prstGeom>
          <a:solidFill>
            <a:schemeClr val="bg2"/>
          </a:solidFill>
          <a:ln w="12700">
            <a:solidFill>
              <a:schemeClr val="bg2"/>
            </a:solidFill>
            <a:prstDash val="solid"/>
          </a:ln>
        </p:spPr>
      </p:sp>
      <p:sp>
        <p:nvSpPr>
          <p:cNvPr id="24" name="Text 17"/>
          <p:cNvSpPr txBox="1"/>
          <p:nvPr/>
        </p:nvSpPr>
        <p:spPr>
          <a:xfrm>
            <a:off x="4846320" y="3977640"/>
            <a:ext cx="3749040" cy="731520"/>
          </a:xfrm>
          <a:prstGeom prst="rect">
            <a:avLst/>
          </a:prstGeom>
          <a:noFill/>
          <a:ln/>
        </p:spPr>
        <p:txBody>
          <a:bodyPr wrap="square" lIns="0" tIns="0" rIns="0" bIns="0" rtlCol="0" anchor="ctr"/>
          <a:lstStyle/>
          <a:p>
            <a:pPr indent="0" marL="0">
              <a:buNone/>
            </a:pPr>
            <a:r>
              <a:rPr lang="en-US" sz="1400" b="1" dirty="0">
                <a:solidFill>
                  <a:schemeClr val="tx2"/>
                </a:solidFill>
              </a:rPr>
              <a:t>Cross-platform: </a:t>
            </a:r>
            <a:pPr indent="0" marL="0">
              <a:buNone/>
            </a:pPr>
            <a:r>
              <a:rPr lang="en-US" sz="1400" dirty="0">
                <a:solidFill>
                  <a:schemeClr val="tx1"/>
                </a:solidFill>
              </a:rPr>
              <a:t>Linux, macOS and Windows, created by Wez Furlong</a:t>
            </a:r>
            <a:endParaRPr lang="en-US" sz="14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How we derived the architecture</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§2</a:t>
            </a:r>
            <a:endParaRPr lang="en-US" sz="1200" dirty="0"/>
          </a:p>
        </p:txBody>
      </p:sp>
      <p:sp>
        <p:nvSpPr>
          <p:cNvPr id="5" name="card"/>
          <p:cNvSpPr/>
          <p:nvPr/>
        </p:nvSpPr>
        <p:spPr>
          <a:xfrm>
            <a:off x="411480" y="914400"/>
            <a:ext cx="2560320" cy="2788920"/>
          </a:xfrm>
          <a:prstGeom prst="roundRect">
            <a:avLst>
              <a:gd name="adj" fmla="val 3571"/>
            </a:avLst>
          </a:prstGeom>
          <a:solidFill>
            <a:schemeClr val="bg2"/>
          </a:solidFill>
          <a:ln w="12700">
            <a:solidFill>
              <a:schemeClr val="bg2"/>
            </a:solidFill>
            <a:prstDash val="solid"/>
          </a:ln>
        </p:spPr>
      </p:sp>
      <p:sp>
        <p:nvSpPr>
          <p:cNvPr id="6" name="Text 4"/>
          <p:cNvSpPr txBox="1"/>
          <p:nvPr/>
        </p:nvSpPr>
        <p:spPr>
          <a:xfrm>
            <a:off x="640080" y="1051560"/>
            <a:ext cx="914400" cy="457200"/>
          </a:xfrm>
          <a:prstGeom prst="rect">
            <a:avLst/>
          </a:prstGeom>
          <a:noFill/>
          <a:ln/>
        </p:spPr>
        <p:txBody>
          <a:bodyPr wrap="square" lIns="0" tIns="0" rIns="0" bIns="0" rtlCol="0" anchor="t"/>
          <a:lstStyle/>
          <a:p>
            <a:pPr indent="0" marL="0">
              <a:buNone/>
            </a:pPr>
            <a:r>
              <a:rPr lang="en-US" sz="2800" b="1" dirty="0">
                <a:solidFill>
                  <a:schemeClr val="accent2"/>
                </a:solidFill>
                <a:latin typeface="Courier New" pitchFamily="34" charset="0"/>
                <a:ea typeface="Courier New" pitchFamily="34" charset="-122"/>
                <a:cs typeface="Courier New" pitchFamily="34" charset="-120"/>
              </a:rPr>
              <a:t>01</a:t>
            </a:r>
            <a:endParaRPr lang="en-US" sz="2800" dirty="0"/>
          </a:p>
        </p:txBody>
      </p:sp>
      <p:sp>
        <p:nvSpPr>
          <p:cNvPr id="7" name="Text 5"/>
          <p:cNvSpPr txBox="1"/>
          <p:nvPr/>
        </p:nvSpPr>
        <p:spPr>
          <a:xfrm>
            <a:off x="640080" y="1554480"/>
            <a:ext cx="2103120" cy="365760"/>
          </a:xfrm>
          <a:prstGeom prst="rect">
            <a:avLst/>
          </a:prstGeom>
          <a:noFill/>
          <a:ln/>
        </p:spPr>
        <p:txBody>
          <a:bodyPr wrap="square" lIns="0" tIns="0" rIns="0" bIns="0" rtlCol="0" anchor="t"/>
          <a:lstStyle/>
          <a:p>
            <a:pPr indent="0" marL="0">
              <a:buNone/>
            </a:pPr>
            <a:r>
              <a:rPr lang="en-US" sz="2000" b="1" dirty="0">
                <a:solidFill>
                  <a:schemeClr val="tx2"/>
                </a:solidFill>
              </a:rPr>
              <a:t>Read</a:t>
            </a:r>
            <a:endParaRPr lang="en-US" sz="2000" dirty="0"/>
          </a:p>
        </p:txBody>
      </p:sp>
      <p:sp>
        <p:nvSpPr>
          <p:cNvPr id="8" name="Text 6"/>
          <p:cNvSpPr txBox="1"/>
          <p:nvPr/>
        </p:nvSpPr>
        <p:spPr>
          <a:xfrm>
            <a:off x="640080" y="1965960"/>
            <a:ext cx="219456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WezTerm docs + repo crate layout</a:t>
            </a:r>
            <a:endParaRPr lang="en-US" sz="1400" dirty="0"/>
          </a:p>
          <a:p>
            <a:pPr marL="342900" indent="-342900">
              <a:spcAft>
                <a:spcPts val="400"/>
              </a:spcAft>
              <a:buSzPct val="100000"/>
              <a:buChar char="•"/>
            </a:pPr>
            <a:r>
              <a:rPr lang="en-US" sz="1400" dirty="0">
                <a:solidFill>
                  <a:schemeClr val="tx1"/>
                </a:solidFill>
              </a:rPr>
              <a:t>Course material on styles</a:t>
            </a:r>
            <a:endParaRPr lang="en-US" sz="1400" dirty="0"/>
          </a:p>
          <a:p>
            <a:pPr marL="342900" indent="-342900">
              <a:spcAft>
                <a:spcPts val="400"/>
              </a:spcAft>
              <a:buSzPct val="100000"/>
              <a:buChar char="•"/>
            </a:pPr>
            <a:r>
              <a:rPr lang="en-US" sz="1400" dirty="0">
                <a:solidFill>
                  <a:schemeClr val="tx1"/>
                </a:solidFill>
              </a:rPr>
              <a:t>Group crates, one owner each</a:t>
            </a:r>
            <a:endParaRPr lang="en-US" sz="1400" dirty="0"/>
          </a:p>
        </p:txBody>
      </p:sp>
      <p:sp>
        <p:nvSpPr>
          <p:cNvPr id="9" name="Text 7"/>
          <p:cNvSpPr txBox="1"/>
          <p:nvPr/>
        </p:nvSpPr>
        <p:spPr>
          <a:xfrm>
            <a:off x="640080" y="3200400"/>
            <a:ext cx="2194560" cy="32004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 8 candidate subsystems</a:t>
            </a:r>
            <a:endParaRPr lang="en-US" sz="1200" dirty="0"/>
          </a:p>
        </p:txBody>
      </p:sp>
      <p:sp>
        <p:nvSpPr>
          <p:cNvPr id="10" name="Shape 8"/>
          <p:cNvSpPr/>
          <p:nvPr/>
        </p:nvSpPr>
        <p:spPr>
          <a:xfrm>
            <a:off x="3026664" y="2176272"/>
            <a:ext cx="182880" cy="274320"/>
          </a:xfrm>
          <a:prstGeom prst="chevron">
            <a:avLst/>
          </a:prstGeom>
          <a:solidFill>
            <a:schemeClr val="accent4"/>
          </a:solidFill>
          <a:ln w="12700">
            <a:solidFill>
              <a:schemeClr val="accent4"/>
            </a:solidFill>
            <a:prstDash val="solid"/>
          </a:ln>
        </p:spPr>
      </p:sp>
      <p:sp>
        <p:nvSpPr>
          <p:cNvPr id="11" name="card"/>
          <p:cNvSpPr/>
          <p:nvPr/>
        </p:nvSpPr>
        <p:spPr>
          <a:xfrm>
            <a:off x="3264408" y="914400"/>
            <a:ext cx="2560320" cy="2788920"/>
          </a:xfrm>
          <a:prstGeom prst="roundRect">
            <a:avLst>
              <a:gd name="adj" fmla="val 3571"/>
            </a:avLst>
          </a:prstGeom>
          <a:solidFill>
            <a:schemeClr val="bg2"/>
          </a:solidFill>
          <a:ln w="12700">
            <a:solidFill>
              <a:schemeClr val="bg2"/>
            </a:solidFill>
            <a:prstDash val="solid"/>
          </a:ln>
        </p:spPr>
      </p:sp>
      <p:sp>
        <p:nvSpPr>
          <p:cNvPr id="12" name="Text 10"/>
          <p:cNvSpPr txBox="1"/>
          <p:nvPr/>
        </p:nvSpPr>
        <p:spPr>
          <a:xfrm>
            <a:off x="3493008" y="1051560"/>
            <a:ext cx="914400" cy="457200"/>
          </a:xfrm>
          <a:prstGeom prst="rect">
            <a:avLst/>
          </a:prstGeom>
          <a:noFill/>
          <a:ln/>
        </p:spPr>
        <p:txBody>
          <a:bodyPr wrap="square" lIns="0" tIns="0" rIns="0" bIns="0" rtlCol="0" anchor="t"/>
          <a:lstStyle/>
          <a:p>
            <a:pPr indent="0" marL="0">
              <a:buNone/>
            </a:pPr>
            <a:r>
              <a:rPr lang="en-US" sz="2800" b="1" dirty="0">
                <a:solidFill>
                  <a:schemeClr val="accent2"/>
                </a:solidFill>
                <a:latin typeface="Courier New" pitchFamily="34" charset="0"/>
                <a:ea typeface="Courier New" pitchFamily="34" charset="-122"/>
                <a:cs typeface="Courier New" pitchFamily="34" charset="-120"/>
              </a:rPr>
              <a:t>02</a:t>
            </a:r>
            <a:endParaRPr lang="en-US" sz="2800" dirty="0"/>
          </a:p>
        </p:txBody>
      </p:sp>
      <p:sp>
        <p:nvSpPr>
          <p:cNvPr id="13" name="Text 11"/>
          <p:cNvSpPr txBox="1"/>
          <p:nvPr/>
        </p:nvSpPr>
        <p:spPr>
          <a:xfrm>
            <a:off x="3493008" y="1554480"/>
            <a:ext cx="2103120" cy="365760"/>
          </a:xfrm>
          <a:prstGeom prst="rect">
            <a:avLst/>
          </a:prstGeom>
          <a:noFill/>
          <a:ln/>
        </p:spPr>
        <p:txBody>
          <a:bodyPr wrap="square" lIns="0" tIns="0" rIns="0" bIns="0" rtlCol="0" anchor="t"/>
          <a:lstStyle/>
          <a:p>
            <a:pPr indent="0" marL="0">
              <a:buNone/>
            </a:pPr>
            <a:r>
              <a:rPr lang="en-US" sz="2000" b="1" dirty="0">
                <a:solidFill>
                  <a:schemeClr val="tx2"/>
                </a:solidFill>
              </a:rPr>
              <a:t>Trace</a:t>
            </a:r>
            <a:endParaRPr lang="en-US" sz="2000" dirty="0"/>
          </a:p>
        </p:txBody>
      </p:sp>
      <p:sp>
        <p:nvSpPr>
          <p:cNvPr id="14" name="Text 12"/>
          <p:cNvSpPr txBox="1"/>
          <p:nvPr/>
        </p:nvSpPr>
        <p:spPr>
          <a:xfrm>
            <a:off x="3493008" y="1965960"/>
            <a:ext cx="219456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2 use cases, 2 paths</a:t>
            </a:r>
            <a:endParaRPr lang="en-US" sz="1400" dirty="0"/>
          </a:p>
          <a:p>
            <a:pPr marL="342900" indent="-342900">
              <a:spcAft>
                <a:spcPts val="400"/>
              </a:spcAft>
              <a:buSzPct val="100000"/>
              <a:buChar char="•"/>
            </a:pPr>
            <a:r>
              <a:rPr lang="en-US" sz="1400" dirty="0">
                <a:solidFill>
                  <a:schemeClr val="tx1"/>
                </a:solidFill>
              </a:rPr>
              <a:t>Who calls whom, in order</a:t>
            </a:r>
            <a:endParaRPr lang="en-US" sz="1400" dirty="0"/>
          </a:p>
          <a:p>
            <a:pPr marL="342900" indent="-342900">
              <a:spcAft>
                <a:spcPts val="400"/>
              </a:spcAft>
              <a:buSzPct val="100000"/>
              <a:buChar char="•"/>
            </a:pPr>
            <a:r>
              <a:rPr lang="en-US" sz="1400" dirty="0">
                <a:solidFill>
                  <a:schemeClr val="tx1"/>
                </a:solidFill>
              </a:rPr>
              <a:t>Found the async output</a:t>
            </a:r>
            <a:endParaRPr lang="en-US" sz="1400" dirty="0"/>
          </a:p>
        </p:txBody>
      </p:sp>
      <p:sp>
        <p:nvSpPr>
          <p:cNvPr id="15" name="Text 13"/>
          <p:cNvSpPr txBox="1"/>
          <p:nvPr/>
        </p:nvSpPr>
        <p:spPr>
          <a:xfrm>
            <a:off x="3493008" y="3200400"/>
            <a:ext cx="2194560" cy="32004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 2 sequence diagrams</a:t>
            </a:r>
            <a:endParaRPr lang="en-US" sz="1200" dirty="0"/>
          </a:p>
        </p:txBody>
      </p:sp>
      <p:sp>
        <p:nvSpPr>
          <p:cNvPr id="16" name="Shape 14"/>
          <p:cNvSpPr/>
          <p:nvPr/>
        </p:nvSpPr>
        <p:spPr>
          <a:xfrm>
            <a:off x="5879592" y="2176272"/>
            <a:ext cx="182880" cy="274320"/>
          </a:xfrm>
          <a:prstGeom prst="chevron">
            <a:avLst/>
          </a:prstGeom>
          <a:solidFill>
            <a:schemeClr val="accent4"/>
          </a:solidFill>
          <a:ln w="12700">
            <a:solidFill>
              <a:schemeClr val="accent4"/>
            </a:solidFill>
            <a:prstDash val="solid"/>
          </a:ln>
        </p:spPr>
      </p:sp>
      <p:sp>
        <p:nvSpPr>
          <p:cNvPr id="17" name="card"/>
          <p:cNvSpPr/>
          <p:nvPr/>
        </p:nvSpPr>
        <p:spPr>
          <a:xfrm>
            <a:off x="6117336" y="914400"/>
            <a:ext cx="2560320" cy="2788920"/>
          </a:xfrm>
          <a:prstGeom prst="roundRect">
            <a:avLst>
              <a:gd name="adj" fmla="val 3571"/>
            </a:avLst>
          </a:prstGeom>
          <a:solidFill>
            <a:schemeClr val="bg2"/>
          </a:solidFill>
          <a:ln w="12700">
            <a:solidFill>
              <a:schemeClr val="bg2"/>
            </a:solidFill>
            <a:prstDash val="solid"/>
          </a:ln>
        </p:spPr>
      </p:sp>
      <p:sp>
        <p:nvSpPr>
          <p:cNvPr id="18" name="Text 16"/>
          <p:cNvSpPr txBox="1"/>
          <p:nvPr/>
        </p:nvSpPr>
        <p:spPr>
          <a:xfrm>
            <a:off x="6345936" y="1051560"/>
            <a:ext cx="914400" cy="457200"/>
          </a:xfrm>
          <a:prstGeom prst="rect">
            <a:avLst/>
          </a:prstGeom>
          <a:noFill/>
          <a:ln/>
        </p:spPr>
        <p:txBody>
          <a:bodyPr wrap="square" lIns="0" tIns="0" rIns="0" bIns="0" rtlCol="0" anchor="t"/>
          <a:lstStyle/>
          <a:p>
            <a:pPr indent="0" marL="0">
              <a:buNone/>
            </a:pPr>
            <a:r>
              <a:rPr lang="en-US" sz="2800" b="1" dirty="0">
                <a:solidFill>
                  <a:schemeClr val="accent2"/>
                </a:solidFill>
                <a:latin typeface="Courier New" pitchFamily="34" charset="0"/>
                <a:ea typeface="Courier New" pitchFamily="34" charset="-122"/>
                <a:cs typeface="Courier New" pitchFamily="34" charset="-120"/>
              </a:rPr>
              <a:t>03</a:t>
            </a:r>
            <a:endParaRPr lang="en-US" sz="2800" dirty="0"/>
          </a:p>
        </p:txBody>
      </p:sp>
      <p:sp>
        <p:nvSpPr>
          <p:cNvPr id="19" name="Text 17"/>
          <p:cNvSpPr txBox="1"/>
          <p:nvPr/>
        </p:nvSpPr>
        <p:spPr>
          <a:xfrm>
            <a:off x="6345936" y="1554480"/>
            <a:ext cx="2103120" cy="365760"/>
          </a:xfrm>
          <a:prstGeom prst="rect">
            <a:avLst/>
          </a:prstGeom>
          <a:noFill/>
          <a:ln/>
        </p:spPr>
        <p:txBody>
          <a:bodyPr wrap="square" lIns="0" tIns="0" rIns="0" bIns="0" rtlCol="0" anchor="t"/>
          <a:lstStyle/>
          <a:p>
            <a:pPr indent="0" marL="0">
              <a:buNone/>
            </a:pPr>
            <a:r>
              <a:rPr lang="en-US" sz="2000" b="1" dirty="0">
                <a:solidFill>
                  <a:schemeClr val="tx2"/>
                </a:solidFill>
              </a:rPr>
              <a:t>Merge</a:t>
            </a:r>
            <a:endParaRPr lang="en-US" sz="2000" dirty="0"/>
          </a:p>
        </p:txBody>
      </p:sp>
      <p:sp>
        <p:nvSpPr>
          <p:cNvPr id="20" name="Text 18"/>
          <p:cNvSpPr txBox="1"/>
          <p:nvPr/>
        </p:nvSpPr>
        <p:spPr>
          <a:xfrm>
            <a:off x="6345936" y="1965960"/>
            <a:ext cx="219456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Lifeline → box</a:t>
            </a:r>
            <a:endParaRPr lang="en-US" sz="1400" dirty="0"/>
          </a:p>
          <a:p>
            <a:pPr marL="342900" indent="-342900">
              <a:spcAft>
                <a:spcPts val="400"/>
              </a:spcAft>
              <a:buSzPct val="100000"/>
              <a:buChar char="•"/>
            </a:pPr>
            <a:r>
              <a:rPr lang="en-US" sz="1400" dirty="0">
                <a:solidFill>
                  <a:schemeClr val="tx1"/>
                </a:solidFill>
              </a:rPr>
              <a:t>Message kind → arrow</a:t>
            </a:r>
            <a:endParaRPr lang="en-US" sz="1400" dirty="0"/>
          </a:p>
          <a:p>
            <a:pPr marL="342900" indent="-342900">
              <a:spcAft>
                <a:spcPts val="400"/>
              </a:spcAft>
              <a:buSzPct val="100000"/>
              <a:buChar char="•"/>
            </a:pPr>
            <a:r>
              <a:rPr lang="en-US" sz="1400" dirty="0">
                <a:solidFill>
                  <a:schemeClr val="tx1"/>
                </a:solidFill>
              </a:rPr>
              <a:t>Group boxes into tiers</a:t>
            </a:r>
            <a:endParaRPr lang="en-US" sz="1400" dirty="0"/>
          </a:p>
        </p:txBody>
      </p:sp>
      <p:sp>
        <p:nvSpPr>
          <p:cNvPr id="21" name="Text 19"/>
          <p:cNvSpPr txBox="1"/>
          <p:nvPr/>
        </p:nvSpPr>
        <p:spPr>
          <a:xfrm>
            <a:off x="6345936" y="3200400"/>
            <a:ext cx="2194560" cy="32004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 box-and-arrow diagram</a:t>
            </a:r>
            <a:endParaRPr lang="en-US" sz="1200" dirty="0"/>
          </a:p>
        </p:txBody>
      </p:sp>
      <p:sp>
        <p:nvSpPr>
          <p:cNvPr id="22" name="Shape 20"/>
          <p:cNvSpPr/>
          <p:nvPr/>
        </p:nvSpPr>
        <p:spPr>
          <a:xfrm>
            <a:off x="411480" y="3931920"/>
            <a:ext cx="8266176" cy="685800"/>
          </a:xfrm>
          <a:prstGeom prst="roundRect">
            <a:avLst>
              <a:gd name="adj" fmla="val 13333"/>
            </a:avLst>
          </a:prstGeom>
          <a:solidFill>
            <a:schemeClr val="tx2"/>
          </a:solidFill>
          <a:ln w="12700">
            <a:solidFill>
              <a:schemeClr val="tx2"/>
            </a:solidFill>
            <a:prstDash val="solid"/>
          </a:ln>
        </p:spPr>
      </p:sp>
      <p:pic>
        <p:nvPicPr>
          <p:cNvPr id="23" name="Image 0" descr="preencoded.png">    </p:cNvPr>
          <p:cNvPicPr>
            <a:picLocks noChangeAspect="1"/>
          </p:cNvPicPr>
          <p:nvPr/>
        </p:nvPicPr>
        <p:blipFill>
          <a:blip r:embed="rId1"/>
          <a:stretch>
            <a:fillRect/>
          </a:stretch>
        </p:blipFill>
        <p:spPr>
          <a:xfrm>
            <a:off x="640080" y="4114800"/>
            <a:ext cx="320040" cy="320040"/>
          </a:xfrm>
          <a:prstGeom prst="rect">
            <a:avLst/>
          </a:prstGeom>
        </p:spPr>
      </p:pic>
      <p:sp>
        <p:nvSpPr>
          <p:cNvPr id="24" name="Text 21"/>
          <p:cNvSpPr txBox="1"/>
          <p:nvPr/>
        </p:nvSpPr>
        <p:spPr>
          <a:xfrm>
            <a:off x="1143000" y="3931920"/>
            <a:ext cx="7406640" cy="685800"/>
          </a:xfrm>
          <a:prstGeom prst="rect">
            <a:avLst/>
          </a:prstGeom>
          <a:noFill/>
          <a:ln/>
        </p:spPr>
        <p:txBody>
          <a:bodyPr wrap="square" lIns="0" tIns="0" rIns="0" bIns="0" rtlCol="0" anchor="ctr"/>
          <a:lstStyle/>
          <a:p>
            <a:pPr indent="0" marL="0">
              <a:buNone/>
            </a:pPr>
            <a:r>
              <a:rPr lang="en-US" sz="1500" b="1" dirty="0">
                <a:solidFill>
                  <a:schemeClr val="bg1"/>
                </a:solidFill>
              </a:rPr>
              <a:t>Checked in reverse: </a:t>
            </a:r>
            <a:pPr indent="0" marL="0">
              <a:buNone/>
            </a:pPr>
            <a:r>
              <a:rPr lang="en-US" sz="1500" dirty="0">
                <a:solidFill>
                  <a:schemeClr val="bg1"/>
                </a:solidFill>
              </a:rPr>
              <a:t>every arrow traces to a use-case step or the documentation</a:t>
            </a:r>
            <a:endParaRPr lang="en-US" sz="15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Conceptual architecture</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§3</a:t>
            </a:r>
            <a:endParaRPr lang="en-US" sz="1200" dirty="0"/>
          </a:p>
        </p:txBody>
      </p:sp>
      <p:pic>
        <p:nvPicPr>
          <p:cNvPr id="5" name="archDiagram" descr="img/arch_c.png">    </p:cNvPr>
          <p:cNvPicPr>
            <a:picLocks noChangeAspect="1"/>
          </p:cNvPicPr>
          <p:nvPr/>
        </p:nvPicPr>
        <p:blipFill>
          <a:blip r:embed="rId1"/>
          <a:stretch>
            <a:fillRect/>
          </a:stretch>
        </p:blipFill>
        <p:spPr>
          <a:xfrm>
            <a:off x="320040" y="804672"/>
            <a:ext cx="5872294" cy="4160520"/>
          </a:xfrm>
          <a:prstGeom prst="rect">
            <a:avLst/>
          </a:prstGeom>
        </p:spPr>
      </p:pic>
      <p:sp>
        <p:nvSpPr>
          <p:cNvPr id="6" name="Text 3"/>
          <p:cNvSpPr txBox="1"/>
          <p:nvPr/>
        </p:nvSpPr>
        <p:spPr>
          <a:xfrm>
            <a:off x="6400800" y="868680"/>
            <a:ext cx="2331720" cy="320040"/>
          </a:xfrm>
          <a:prstGeom prst="rect">
            <a:avLst/>
          </a:prstGeom>
          <a:noFill/>
          <a:ln/>
        </p:spPr>
        <p:txBody>
          <a:bodyPr wrap="square" lIns="0" tIns="0" rIns="0" bIns="0" rtlCol="0" anchor="t"/>
          <a:lstStyle/>
          <a:p>
            <a:pPr indent="0" marL="0">
              <a:buNone/>
            </a:pPr>
            <a:r>
              <a:rPr lang="en-US" sz="1600" b="1" dirty="0">
                <a:solidFill>
                  <a:schemeClr val="tx2"/>
                </a:solidFill>
              </a:rPr>
              <a:t>How to read it</a:t>
            </a:r>
            <a:endParaRPr lang="en-US" sz="1600" dirty="0"/>
          </a:p>
        </p:txBody>
      </p:sp>
      <p:sp>
        <p:nvSpPr>
          <p:cNvPr id="7" name="Shape 4"/>
          <p:cNvSpPr/>
          <p:nvPr/>
        </p:nvSpPr>
        <p:spPr>
          <a:xfrm>
            <a:off x="6400800" y="1453896"/>
            <a:ext cx="457200" cy="0"/>
          </a:xfrm>
          <a:prstGeom prst="line">
            <a:avLst/>
          </a:prstGeom>
          <a:noFill/>
          <a:ln w="25400">
            <a:solidFill>
              <a:srgbClr val="1F1B2E"/>
            </a:solidFill>
            <a:prstDash val="solid"/>
            <a:tailEnd type="triangle"/>
          </a:ln>
        </p:spPr>
      </p:sp>
      <p:sp>
        <p:nvSpPr>
          <p:cNvPr id="8" name="Text 5"/>
          <p:cNvSpPr txBox="1"/>
          <p:nvPr/>
        </p:nvSpPr>
        <p:spPr>
          <a:xfrm>
            <a:off x="6967728" y="1344168"/>
            <a:ext cx="1783080" cy="237744"/>
          </a:xfrm>
          <a:prstGeom prst="rect">
            <a:avLst/>
          </a:prstGeom>
          <a:noFill/>
          <a:ln/>
        </p:spPr>
        <p:txBody>
          <a:bodyPr wrap="square" lIns="0" tIns="0" rIns="0" bIns="0" rtlCol="0" anchor="t"/>
          <a:lstStyle/>
          <a:p>
            <a:pPr indent="0" marL="0">
              <a:buNone/>
            </a:pPr>
            <a:r>
              <a:rPr lang="en-US" sz="1200" dirty="0">
                <a:solidFill>
                  <a:schemeClr val="tx1"/>
                </a:solidFill>
              </a:rPr>
              <a:t>Call / direct dependency</a:t>
            </a:r>
            <a:endParaRPr lang="en-US" sz="1200" dirty="0"/>
          </a:p>
        </p:txBody>
      </p:sp>
      <p:sp>
        <p:nvSpPr>
          <p:cNvPr id="9" name="Shape 6"/>
          <p:cNvSpPr/>
          <p:nvPr/>
        </p:nvSpPr>
        <p:spPr>
          <a:xfrm>
            <a:off x="6400800" y="1837944"/>
            <a:ext cx="457200" cy="0"/>
          </a:xfrm>
          <a:prstGeom prst="line">
            <a:avLst/>
          </a:prstGeom>
          <a:noFill/>
          <a:ln w="25400">
            <a:solidFill>
              <a:srgbClr val="64748B"/>
            </a:solidFill>
            <a:prstDash val="dash"/>
            <a:tailEnd type="triangle"/>
          </a:ln>
        </p:spPr>
      </p:sp>
      <p:sp>
        <p:nvSpPr>
          <p:cNvPr id="10" name="Text 7"/>
          <p:cNvSpPr txBox="1"/>
          <p:nvPr/>
        </p:nvSpPr>
        <p:spPr>
          <a:xfrm>
            <a:off x="6967728" y="1728216"/>
            <a:ext cx="1783080" cy="237744"/>
          </a:xfrm>
          <a:prstGeom prst="rect">
            <a:avLst/>
          </a:prstGeom>
          <a:noFill/>
          <a:ln/>
        </p:spPr>
        <p:txBody>
          <a:bodyPr wrap="square" lIns="0" tIns="0" rIns="0" bIns="0" rtlCol="0" anchor="t"/>
          <a:lstStyle/>
          <a:p>
            <a:pPr indent="0" marL="0">
              <a:buNone/>
            </a:pPr>
            <a:r>
              <a:rPr lang="en-US" sz="1200" dirty="0">
                <a:solidFill>
                  <a:schemeClr val="tx1"/>
                </a:solidFill>
              </a:rPr>
              <a:t>Read-only config injection</a:t>
            </a:r>
            <a:endParaRPr lang="en-US" sz="1200" dirty="0"/>
          </a:p>
        </p:txBody>
      </p:sp>
      <p:sp>
        <p:nvSpPr>
          <p:cNvPr id="11" name="Shape 8"/>
          <p:cNvSpPr/>
          <p:nvPr/>
        </p:nvSpPr>
        <p:spPr>
          <a:xfrm>
            <a:off x="6400800" y="2221992"/>
            <a:ext cx="457200" cy="0"/>
          </a:xfrm>
          <a:prstGeom prst="line">
            <a:avLst/>
          </a:prstGeom>
          <a:noFill/>
          <a:ln w="25400">
            <a:solidFill>
              <a:srgbClr val="0E9F6E"/>
            </a:solidFill>
            <a:prstDash val="solid"/>
            <a:tailEnd type="triangle"/>
          </a:ln>
        </p:spPr>
      </p:sp>
      <p:sp>
        <p:nvSpPr>
          <p:cNvPr id="12" name="Text 9"/>
          <p:cNvSpPr txBox="1"/>
          <p:nvPr/>
        </p:nvSpPr>
        <p:spPr>
          <a:xfrm>
            <a:off x="6967728" y="2112264"/>
            <a:ext cx="1783080" cy="237744"/>
          </a:xfrm>
          <a:prstGeom prst="rect">
            <a:avLst/>
          </a:prstGeom>
          <a:noFill/>
          <a:ln/>
        </p:spPr>
        <p:txBody>
          <a:bodyPr wrap="square" lIns="0" tIns="0" rIns="0" bIns="0" rtlCol="0" anchor="t"/>
          <a:lstStyle/>
          <a:p>
            <a:pPr indent="0" marL="0">
              <a:buNone/>
            </a:pPr>
            <a:r>
              <a:rPr lang="en-US" sz="1200" dirty="0">
                <a:solidFill>
                  <a:schemeClr val="tx1"/>
                </a:solidFill>
              </a:rPr>
              <a:t>Pub-sub notification</a:t>
            </a:r>
            <a:endParaRPr lang="en-US" sz="1200" dirty="0"/>
          </a:p>
        </p:txBody>
      </p:sp>
      <p:sp>
        <p:nvSpPr>
          <p:cNvPr id="13" name="card"/>
          <p:cNvSpPr/>
          <p:nvPr/>
        </p:nvSpPr>
        <p:spPr>
          <a:xfrm>
            <a:off x="6400800" y="2606040"/>
            <a:ext cx="2331720" cy="914400"/>
          </a:xfrm>
          <a:prstGeom prst="roundRect">
            <a:avLst>
              <a:gd name="adj" fmla="val 10000"/>
            </a:avLst>
          </a:prstGeom>
          <a:solidFill>
            <a:schemeClr val="bg2"/>
          </a:solidFill>
          <a:ln w="12700">
            <a:solidFill>
              <a:schemeClr val="bg2"/>
            </a:solidFill>
            <a:prstDash val="solid"/>
          </a:ln>
        </p:spPr>
      </p:sp>
      <p:sp>
        <p:nvSpPr>
          <p:cNvPr id="14" name="Text 11"/>
          <p:cNvSpPr txBox="1"/>
          <p:nvPr/>
        </p:nvSpPr>
        <p:spPr>
          <a:xfrm>
            <a:off x="6537960" y="2670048"/>
            <a:ext cx="2103120" cy="822960"/>
          </a:xfrm>
          <a:prstGeom prst="rect">
            <a:avLst/>
          </a:prstGeom>
          <a:noFill/>
          <a:ln/>
        </p:spPr>
        <p:txBody>
          <a:bodyPr wrap="square" lIns="0" tIns="0" rIns="0" bIns="0" rtlCol="0" anchor="ctr"/>
          <a:lstStyle/>
          <a:p>
            <a:pPr indent="0" marL="0">
              <a:buNone/>
            </a:pPr>
            <a:r>
              <a:rPr lang="en-US" sz="1300" b="1" dirty="0">
                <a:solidFill>
                  <a:schemeClr val="tx2"/>
                </a:solidFill>
              </a:rPr>
              <a:t>8 subsystems, 4 tiers</a:t>
            </a:r>
            <a:endParaRPr lang="en-US" sz="1300" dirty="0"/>
          </a:p>
          <a:p>
            <a:pPr indent="0" marL="0">
              <a:buNone/>
            </a:pPr>
            <a:r>
              <a:rPr lang="en-US" sz="1300" dirty="0">
                <a:solidFill>
                  <a:schemeClr val="tx1"/>
                </a:solidFill>
              </a:rPr>
              <a:t>plus a host band: OS, shell and mux server host</a:t>
            </a:r>
            <a:endParaRPr lang="en-US" sz="1300" dirty="0"/>
          </a:p>
        </p:txBody>
      </p:sp>
      <p:sp>
        <p:nvSpPr>
          <p:cNvPr id="15" name="card"/>
          <p:cNvSpPr/>
          <p:nvPr/>
        </p:nvSpPr>
        <p:spPr>
          <a:xfrm>
            <a:off x="6400800" y="3639312"/>
            <a:ext cx="2331720" cy="1097280"/>
          </a:xfrm>
          <a:prstGeom prst="roundRect">
            <a:avLst>
              <a:gd name="adj" fmla="val 8333"/>
            </a:avLst>
          </a:prstGeom>
          <a:solidFill>
            <a:srgbClr val="FFF3E8"/>
          </a:solidFill>
          <a:ln w="12700">
            <a:solidFill>
              <a:srgbClr val="FFF3E8"/>
            </a:solidFill>
            <a:prstDash val="solid"/>
          </a:ln>
        </p:spPr>
      </p:sp>
      <p:sp>
        <p:nvSpPr>
          <p:cNvPr id="16" name="Text 13"/>
          <p:cNvSpPr txBox="1"/>
          <p:nvPr/>
        </p:nvSpPr>
        <p:spPr>
          <a:xfrm>
            <a:off x="6537960" y="3675888"/>
            <a:ext cx="2103120" cy="1024128"/>
          </a:xfrm>
          <a:prstGeom prst="rect">
            <a:avLst/>
          </a:prstGeom>
          <a:noFill/>
          <a:ln/>
        </p:spPr>
        <p:txBody>
          <a:bodyPr wrap="square" lIns="0" tIns="0" rIns="0" bIns="0" rtlCol="0" anchor="ctr"/>
          <a:lstStyle/>
          <a:p>
            <a:pPr indent="0" marL="0">
              <a:buNone/>
            </a:pPr>
            <a:r>
              <a:rPr lang="en-US" sz="1200" b="1" dirty="0">
                <a:solidFill>
                  <a:schemeClr val="accent3"/>
                </a:solidFill>
              </a:rPr>
              <a:t>Tiers ≠ layered style</a:t>
            </a:r>
            <a:endParaRPr lang="en-US" sz="1200" dirty="0"/>
          </a:p>
          <a:p>
            <a:pPr indent="0" marL="0">
              <a:buNone/>
            </a:pPr>
            <a:r>
              <a:rPr lang="en-US" sz="1200" dirty="0">
                <a:solidFill>
                  <a:schemeClr val="tx1"/>
                </a:solidFill>
              </a:rPr>
              <a:t>Entry calls the Mux directly, the Mux notifies the GUI upward, Config serves every tier</a:t>
            </a:r>
            <a:endParaRPr lang="en-US" sz="12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Eight subsystems, one job each</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§4</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896112"/>
          <a:ext cx="8321040" cy="914400"/>
        </p:xfrm>
        <a:graphic>
          <a:graphicData uri="http://schemas.openxmlformats.org/drawingml/2006/table">
            <a:tbl>
              <a:tblPr/>
              <a:tblGrid>
                <a:gridCol w="2606040"/>
                <a:gridCol w="4572000"/>
                <a:gridCol w="11430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Subsystem</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E1F6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Responsibility</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E1F6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E1F66"/>
                    </a:solidFill>
                  </a:tcPr>
                </a:tc>
              </a:tr>
              <a:tr h="411480">
                <a:tc>
                  <a:txBody>
                    <a:bodyPr/>
                    <a:lstStyle/>
                    <a:p>
                      <a:pPr indent="0" marL="0">
                        <a:buNone/>
                      </a:pPr>
                      <a:r>
                        <a:rPr lang="en-US" sz="1300" b="1" dirty="0">
                          <a:solidFill>
                            <a:srgbClr val="2E1F66"/>
                          </a:solidFill>
                          <a:latin typeface="Calibri" pitchFamily="34" charset="0"/>
                          <a:ea typeface="Calibri" pitchFamily="34" charset="-122"/>
                          <a:cs typeface="Calibri" pitchFamily="34" charset="-120"/>
                        </a:rPr>
                        <a:t>Entry / CLI / Bootstrap </a:t>
                      </a:r>
                      <a:pPr indent="0" marL="0">
                        <a:buNone/>
                      </a:pPr>
                      <a:r>
                        <a:rPr lang="en-US" sz="1100" dirty="0">
                          <a:solidFill>
                            <a:srgbClr val="64748B"/>
                          </a:solidFill>
                          <a:latin typeface="Courier New" pitchFamily="34" charset="0"/>
                          <a:ea typeface="Courier New" pitchFamily="34" charset="-122"/>
                          <a:cs typeface="Courier New" pitchFamily="34" charset="-120"/>
                        </a:rPr>
                        <a:t>§4.8</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c>
                  <a:txBody>
                    <a:bodyPr/>
                    <a:lstStyle/>
                    <a:p>
                      <a:pPr indent="0" marL="0">
                        <a:buNone/>
                      </a:pPr>
                      <a:r>
                        <a:rPr lang="en-US" sz="1300" dirty="0">
                          <a:solidFill>
                            <a:srgbClr val="1F1B2E"/>
                          </a:solidFill>
                          <a:latin typeface="Calibri" pitchFamily="34" charset="0"/>
                          <a:ea typeface="Calibri" pitchFamily="34" charset="-122"/>
                          <a:cs typeface="Calibri" pitchFamily="34" charset="-120"/>
                        </a:rPr>
                        <a:t>Starts every process; routes commands (front controller)</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c>
                  <a:txBody>
                    <a:bodyPr/>
                    <a:lstStyle/>
                    <a:p>
                      <a:pPr indent="0" marL="0">
                        <a:buNone/>
                      </a:pPr>
                      <a:r>
                        <a:rPr lang="en-US" sz="1200" b="1" dirty="0">
                          <a:solidFill>
                            <a:srgbClr val="6D4AE0"/>
                          </a:solidFill>
                          <a:latin typeface="Calibri" pitchFamily="34" charset="0"/>
                          <a:ea typeface="Calibri" pitchFamily="34" charset="-122"/>
                          <a:cs typeface="Calibri" pitchFamily="34" charset="-120"/>
                        </a:rPr>
                        <a:t>Presentation</a:t>
                      </a:r>
                      <a:endParaRPr lang="en-US" sz="12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r>
              <a:tr h="411480">
                <a:tc>
                  <a:txBody>
                    <a:bodyPr/>
                    <a:lstStyle/>
                    <a:p>
                      <a:pPr indent="0" marL="0">
                        <a:buNone/>
                      </a:pPr>
                      <a:r>
                        <a:rPr lang="en-US" sz="1300" b="1" dirty="0">
                          <a:solidFill>
                            <a:srgbClr val="2E1F66"/>
                          </a:solidFill>
                          <a:latin typeface="Calibri" pitchFamily="34" charset="0"/>
                          <a:ea typeface="Calibri" pitchFamily="34" charset="-122"/>
                          <a:cs typeface="Calibri" pitchFamily="34" charset="-120"/>
                        </a:rPr>
                        <a:t>GUI &amp; GPU Rendering </a:t>
                      </a:r>
                      <a:pPr indent="0" marL="0">
                        <a:buNone/>
                      </a:pPr>
                      <a:r>
                        <a:rPr lang="en-US" sz="1100" dirty="0">
                          <a:solidFill>
                            <a:srgbClr val="64748B"/>
                          </a:solidFill>
                          <a:latin typeface="Courier New" pitchFamily="34" charset="0"/>
                          <a:ea typeface="Courier New" pitchFamily="34" charset="-122"/>
                          <a:cs typeface="Courier New" pitchFamily="34" charset="-120"/>
                        </a:rPr>
                        <a:t>§4.3</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dirty="0">
                          <a:solidFill>
                            <a:srgbClr val="1F1B2E"/>
                          </a:solidFill>
                          <a:latin typeface="Calibri" pitchFamily="34" charset="0"/>
                          <a:ea typeface="Calibri" pitchFamily="34" charset="-122"/>
                          <a:cs typeface="Calibri" pitchFamily="34" charset="-120"/>
                        </a:rPr>
                        <a:t>Windows and input; draws only dirty lines on the GPU</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b="1" dirty="0">
                          <a:solidFill>
                            <a:srgbClr val="6D4AE0"/>
                          </a:solidFill>
                          <a:latin typeface="Calibri" pitchFamily="34" charset="0"/>
                          <a:ea typeface="Calibri" pitchFamily="34" charset="-122"/>
                          <a:cs typeface="Calibri" pitchFamily="34" charset="-120"/>
                        </a:rPr>
                        <a:t>Presentation</a:t>
                      </a:r>
                      <a:endParaRPr lang="en-US" sz="12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2E1F66"/>
                          </a:solidFill>
                          <a:latin typeface="Calibri" pitchFamily="34" charset="0"/>
                          <a:ea typeface="Calibri" pitchFamily="34" charset="-122"/>
                          <a:cs typeface="Calibri" pitchFamily="34" charset="-120"/>
                        </a:rPr>
                        <a:t>Font &amp; Text Shaping </a:t>
                      </a:r>
                      <a:pPr indent="0" marL="0">
                        <a:buNone/>
                      </a:pPr>
                      <a:r>
                        <a:rPr lang="en-US" sz="1100" dirty="0">
                          <a:solidFill>
                            <a:srgbClr val="64748B"/>
                          </a:solidFill>
                          <a:latin typeface="Courier New" pitchFamily="34" charset="0"/>
                          <a:ea typeface="Courier New" pitchFamily="34" charset="-122"/>
                          <a:cs typeface="Courier New" pitchFamily="34" charset="-120"/>
                        </a:rPr>
                        <a:t>§4.2</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c>
                  <a:txBody>
                    <a:bodyPr/>
                    <a:lstStyle/>
                    <a:p>
                      <a:pPr indent="0" marL="0">
                        <a:buNone/>
                      </a:pPr>
                      <a:r>
                        <a:rPr lang="en-US" sz="1300" dirty="0">
                          <a:solidFill>
                            <a:srgbClr val="1F1B2E"/>
                          </a:solidFill>
                          <a:latin typeface="Calibri" pitchFamily="34" charset="0"/>
                          <a:ea typeface="Calibri" pitchFamily="34" charset="-122"/>
                          <a:cs typeface="Calibri" pitchFamily="34" charset="-120"/>
                        </a:rPr>
                        <a:t>Finds fonts, shapes text (HarfBuzz), rasterizes glyphs (FreeType)</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c>
                  <a:txBody>
                    <a:bodyPr/>
                    <a:lstStyle/>
                    <a:p>
                      <a:pPr indent="0" marL="0">
                        <a:buNone/>
                      </a:pPr>
                      <a:r>
                        <a:rPr lang="en-US" sz="1200" b="1" dirty="0">
                          <a:solidFill>
                            <a:srgbClr val="6D4AE0"/>
                          </a:solidFill>
                          <a:latin typeface="Calibri" pitchFamily="34" charset="0"/>
                          <a:ea typeface="Calibri" pitchFamily="34" charset="-122"/>
                          <a:cs typeface="Calibri" pitchFamily="34" charset="-120"/>
                        </a:rPr>
                        <a:t>Presentation</a:t>
                      </a:r>
                      <a:endParaRPr lang="en-US" sz="12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r>
              <a:tr h="411480">
                <a:tc>
                  <a:txBody>
                    <a:bodyPr/>
                    <a:lstStyle/>
                    <a:p>
                      <a:pPr indent="0" marL="0">
                        <a:buNone/>
                      </a:pPr>
                      <a:r>
                        <a:rPr lang="en-US" sz="1300" b="1" dirty="0">
                          <a:solidFill>
                            <a:srgbClr val="2E1F66"/>
                          </a:solidFill>
                          <a:latin typeface="Calibri" pitchFamily="34" charset="0"/>
                          <a:ea typeface="Calibri" pitchFamily="34" charset="-122"/>
                          <a:cs typeface="Calibri" pitchFamily="34" charset="-120"/>
                        </a:rPr>
                        <a:t>Configuration &amp; Lua </a:t>
                      </a:r>
                      <a:pPr indent="0" marL="0">
                        <a:buNone/>
                      </a:pPr>
                      <a:r>
                        <a:rPr lang="en-US" sz="1100" dirty="0">
                          <a:solidFill>
                            <a:srgbClr val="64748B"/>
                          </a:solidFill>
                          <a:latin typeface="Courier New" pitchFamily="34" charset="0"/>
                          <a:ea typeface="Courier New" pitchFamily="34" charset="-122"/>
                          <a:cs typeface="Courier New" pitchFamily="34" charset="-120"/>
                        </a:rPr>
                        <a:t>§4.7</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dirty="0">
                          <a:solidFill>
                            <a:srgbClr val="1F1B2E"/>
                          </a:solidFill>
                          <a:latin typeface="Calibri" pitchFamily="34" charset="0"/>
                          <a:ea typeface="Calibri" pitchFamily="34" charset="-122"/>
                          <a:cs typeface="Calibri" pitchFamily="34" charset="-120"/>
                        </a:rPr>
                        <a:t>Runs wezterm.lua → typed config; event hooks; hot reload</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b="1" dirty="0">
                          <a:solidFill>
                            <a:srgbClr val="C2410C"/>
                          </a:solidFill>
                          <a:latin typeface="Calibri" pitchFamily="34" charset="0"/>
                          <a:ea typeface="Calibri" pitchFamily="34" charset="-122"/>
                          <a:cs typeface="Calibri" pitchFamily="34" charset="-120"/>
                        </a:rPr>
                        <a:t>Config</a:t>
                      </a:r>
                      <a:endParaRPr lang="en-US" sz="12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2E1F66"/>
                          </a:solidFill>
                          <a:latin typeface="Calibri" pitchFamily="34" charset="0"/>
                          <a:ea typeface="Calibri" pitchFamily="34" charset="-122"/>
                          <a:cs typeface="Calibri" pitchFamily="34" charset="-120"/>
                        </a:rPr>
                        <a:t>Multiplexer (Mux) </a:t>
                      </a:r>
                      <a:pPr indent="0" marL="0">
                        <a:buNone/>
                      </a:pPr>
                      <a:r>
                        <a:rPr lang="en-US" sz="1100" dirty="0">
                          <a:solidFill>
                            <a:srgbClr val="64748B"/>
                          </a:solidFill>
                          <a:latin typeface="Courier New" pitchFamily="34" charset="0"/>
                          <a:ea typeface="Courier New" pitchFamily="34" charset="-122"/>
                          <a:cs typeface="Courier New" pitchFamily="34" charset="-120"/>
                        </a:rPr>
                        <a:t>§4.4</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c>
                  <a:txBody>
                    <a:bodyPr/>
                    <a:lstStyle/>
                    <a:p>
                      <a:pPr indent="0" marL="0">
                        <a:buNone/>
                      </a:pPr>
                      <a:r>
                        <a:rPr lang="en-US" sz="1300" dirty="0">
                          <a:solidFill>
                            <a:srgbClr val="1F1B2E"/>
                          </a:solidFill>
                          <a:latin typeface="Calibri" pitchFamily="34" charset="0"/>
                          <a:ea typeface="Calibri" pitchFamily="34" charset="-122"/>
                          <a:cs typeface="Calibri" pitchFamily="34" charset="-120"/>
                        </a:rPr>
                        <a:t>Owns every session: domains → windows → tabs → panes</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c>
                  <a:txBody>
                    <a:bodyPr/>
                    <a:lstStyle/>
                    <a:p>
                      <a:pPr indent="0" marL="0">
                        <a:buNone/>
                      </a:pPr>
                      <a:r>
                        <a:rPr lang="en-US" sz="1200" b="1" dirty="0">
                          <a:solidFill>
                            <a:srgbClr val="0E9F6E"/>
                          </a:solidFill>
                          <a:latin typeface="Calibri" pitchFamily="34" charset="0"/>
                          <a:ea typeface="Calibri" pitchFamily="34" charset="-122"/>
                          <a:cs typeface="Calibri" pitchFamily="34" charset="-120"/>
                        </a:rPr>
                        <a:t>Core</a:t>
                      </a:r>
                      <a:endParaRPr lang="en-US" sz="12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r>
              <a:tr h="411480">
                <a:tc>
                  <a:txBody>
                    <a:bodyPr/>
                    <a:lstStyle/>
                    <a:p>
                      <a:pPr indent="0" marL="0">
                        <a:buNone/>
                      </a:pPr>
                      <a:r>
                        <a:rPr lang="en-US" sz="1300" b="1" dirty="0">
                          <a:solidFill>
                            <a:srgbClr val="2E1F66"/>
                          </a:solidFill>
                          <a:latin typeface="Calibri" pitchFamily="34" charset="0"/>
                          <a:ea typeface="Calibri" pitchFamily="34" charset="-122"/>
                          <a:cs typeface="Calibri" pitchFamily="34" charset="-120"/>
                        </a:rPr>
                        <a:t>Terminal Emulation Core </a:t>
                      </a:r>
                      <a:pPr indent="0" marL="0">
                        <a:buNone/>
                      </a:pPr>
                      <a:r>
                        <a:rPr lang="en-US" sz="1100" dirty="0">
                          <a:solidFill>
                            <a:srgbClr val="64748B"/>
                          </a:solidFill>
                          <a:latin typeface="Courier New" pitchFamily="34" charset="0"/>
                          <a:ea typeface="Courier New" pitchFamily="34" charset="-122"/>
                          <a:cs typeface="Courier New" pitchFamily="34" charset="-120"/>
                        </a:rPr>
                        <a:t>§4.1</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dirty="0">
                          <a:solidFill>
                            <a:srgbClr val="1F1B2E"/>
                          </a:solidFill>
                          <a:latin typeface="Calibri" pitchFamily="34" charset="0"/>
                          <a:ea typeface="Calibri" pitchFamily="34" charset="-122"/>
                          <a:cs typeface="Calibri" pitchFamily="34" charset="-120"/>
                        </a:rPr>
                        <a:t>Parses escape sequences; keeps cell grid, scrollback, seq numbers</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b="1" dirty="0">
                          <a:solidFill>
                            <a:srgbClr val="0E9F6E"/>
                          </a:solidFill>
                          <a:latin typeface="Calibri" pitchFamily="34" charset="0"/>
                          <a:ea typeface="Calibri" pitchFamily="34" charset="-122"/>
                          <a:cs typeface="Calibri" pitchFamily="34" charset="-120"/>
                        </a:rPr>
                        <a:t>Core</a:t>
                      </a:r>
                      <a:endParaRPr lang="en-US" sz="12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2E1F66"/>
                          </a:solidFill>
                          <a:latin typeface="Calibri" pitchFamily="34" charset="0"/>
                          <a:ea typeface="Calibri" pitchFamily="34" charset="-122"/>
                          <a:cs typeface="Calibri" pitchFamily="34" charset="-120"/>
                        </a:rPr>
                        <a:t>PTY &amp; Process </a:t>
                      </a:r>
                      <a:pPr indent="0" marL="0">
                        <a:buNone/>
                      </a:pPr>
                      <a:r>
                        <a:rPr lang="en-US" sz="1100" dirty="0">
                          <a:solidFill>
                            <a:srgbClr val="64748B"/>
                          </a:solidFill>
                          <a:latin typeface="Courier New" pitchFamily="34" charset="0"/>
                          <a:ea typeface="Courier New" pitchFamily="34" charset="-122"/>
                          <a:cs typeface="Courier New" pitchFamily="34" charset="-120"/>
                        </a:rPr>
                        <a:t>§4.6</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c>
                  <a:txBody>
                    <a:bodyPr/>
                    <a:lstStyle/>
                    <a:p>
                      <a:pPr indent="0" marL="0">
                        <a:buNone/>
                      </a:pPr>
                      <a:r>
                        <a:rPr lang="en-US" sz="1300" dirty="0">
                          <a:solidFill>
                            <a:srgbClr val="1F1B2E"/>
                          </a:solidFill>
                          <a:latin typeface="Calibri" pitchFamily="34" charset="0"/>
                          <a:ea typeface="Calibri" pitchFamily="34" charset="-122"/>
                          <a:cs typeface="Calibri" pitchFamily="34" charset="-120"/>
                        </a:rPr>
                        <a:t>Creates pseudo-terminals; spawns and feeds the shell</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c>
                  <a:txBody>
                    <a:bodyPr/>
                    <a:lstStyle/>
                    <a:p>
                      <a:pPr indent="0" marL="0">
                        <a:buNone/>
                      </a:pPr>
                      <a:r>
                        <a:rPr lang="en-US" sz="1200" b="1" dirty="0">
                          <a:solidFill>
                            <a:srgbClr val="64748B"/>
                          </a:solidFill>
                          <a:latin typeface="Calibri" pitchFamily="34" charset="0"/>
                          <a:ea typeface="Calibri" pitchFamily="34" charset="-122"/>
                          <a:cs typeface="Calibri" pitchFamily="34" charset="-120"/>
                        </a:rPr>
                        <a:t>Process I/O</a:t>
                      </a:r>
                      <a:endParaRPr lang="en-US" sz="12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4F1FB"/>
                    </a:solidFill>
                  </a:tcPr>
                </a:tc>
              </a:tr>
              <a:tr h="411480">
                <a:tc>
                  <a:txBody>
                    <a:bodyPr/>
                    <a:lstStyle/>
                    <a:p>
                      <a:pPr indent="0" marL="0">
                        <a:buNone/>
                      </a:pPr>
                      <a:r>
                        <a:rPr lang="en-US" sz="1300" b="1" dirty="0">
                          <a:solidFill>
                            <a:srgbClr val="2E1F66"/>
                          </a:solidFill>
                          <a:latin typeface="Calibri" pitchFamily="34" charset="0"/>
                          <a:ea typeface="Calibri" pitchFamily="34" charset="-122"/>
                          <a:cs typeface="Calibri" pitchFamily="34" charset="-120"/>
                        </a:rPr>
                        <a:t>Client–Server Layer </a:t>
                      </a:r>
                      <a:pPr indent="0" marL="0">
                        <a:buNone/>
                      </a:pPr>
                      <a:r>
                        <a:rPr lang="en-US" sz="1100" dirty="0">
                          <a:solidFill>
                            <a:srgbClr val="64748B"/>
                          </a:solidFill>
                          <a:latin typeface="Courier New" pitchFamily="34" charset="0"/>
                          <a:ea typeface="Courier New" pitchFamily="34" charset="-122"/>
                          <a:cs typeface="Courier New" pitchFamily="34" charset="-120"/>
                        </a:rPr>
                        <a:t>§4.5</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300" dirty="0">
                          <a:solidFill>
                            <a:srgbClr val="1F1B2E"/>
                          </a:solidFill>
                          <a:latin typeface="Calibri" pitchFamily="34" charset="0"/>
                          <a:ea typeface="Calibri" pitchFamily="34" charset="-122"/>
                          <a:cs typeface="Calibri" pitchFamily="34" charset="-120"/>
                        </a:rPr>
                        <a:t>Mux server, codec protocol, proxy panes over UDS / SSH / TLS</a:t>
                      </a:r>
                      <a:endParaRPr lang="en-US" sz="13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b="1" dirty="0">
                          <a:solidFill>
                            <a:srgbClr val="64748B"/>
                          </a:solidFill>
                          <a:latin typeface="Calibri" pitchFamily="34" charset="0"/>
                          <a:ea typeface="Calibri" pitchFamily="34" charset="-122"/>
                          <a:cs typeface="Calibri" pitchFamily="34" charset="-120"/>
                        </a:rPr>
                        <a:t>Process I/O</a:t>
                      </a:r>
                      <a:endParaRPr lang="en-US" sz="1200" dirty="0">
                        <a:latin typeface="Calibri" charset="0"/>
                        <a:ea typeface="Calibri" charset="0"/>
                        <a:cs typeface="Calibri" charset="0"/>
                      </a:endParaRPr>
                    </a:p>
                  </a:txBody>
                  <a:tcPr marL="73152" marR="73152" marT="0" marB="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Why the subsystems interact this way</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§3.2</a:t>
            </a:r>
            <a:endParaRPr lang="en-US" sz="1200" dirty="0"/>
          </a:p>
        </p:txBody>
      </p:sp>
      <p:sp>
        <p:nvSpPr>
          <p:cNvPr id="5" name="card"/>
          <p:cNvSpPr/>
          <p:nvPr/>
        </p:nvSpPr>
        <p:spPr>
          <a:xfrm>
            <a:off x="411480" y="914400"/>
            <a:ext cx="4023360" cy="1783080"/>
          </a:xfrm>
          <a:prstGeom prst="roundRect">
            <a:avLst>
              <a:gd name="adj" fmla="val 5128"/>
            </a:avLst>
          </a:prstGeom>
          <a:solidFill>
            <a:schemeClr val="bg2"/>
          </a:solidFill>
          <a:ln w="12700">
            <a:solidFill>
              <a:schemeClr val="bg2"/>
            </a:solidFill>
            <a:prstDash val="solid"/>
          </a:ln>
        </p:spPr>
      </p:sp>
      <p:sp>
        <p:nvSpPr>
          <p:cNvPr id="6" name="iconBg"/>
          <p:cNvSpPr/>
          <p:nvPr/>
        </p:nvSpPr>
        <p:spPr>
          <a:xfrm>
            <a:off x="594360" y="1115568"/>
            <a:ext cx="457200" cy="45720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694944" y="1216152"/>
            <a:ext cx="256032" cy="256032"/>
          </a:xfrm>
          <a:prstGeom prst="rect">
            <a:avLst/>
          </a:prstGeom>
        </p:spPr>
      </p:pic>
      <p:sp>
        <p:nvSpPr>
          <p:cNvPr id="8" name="Text 5"/>
          <p:cNvSpPr txBox="1"/>
          <p:nvPr/>
        </p:nvSpPr>
        <p:spPr>
          <a:xfrm>
            <a:off x="1188720" y="1097280"/>
            <a:ext cx="3108960" cy="502920"/>
          </a:xfrm>
          <a:prstGeom prst="rect">
            <a:avLst/>
          </a:prstGeom>
          <a:noFill/>
          <a:ln/>
        </p:spPr>
        <p:txBody>
          <a:bodyPr wrap="square" lIns="0" tIns="0" rIns="0" bIns="0" rtlCol="0" anchor="ctr"/>
          <a:lstStyle/>
          <a:p>
            <a:pPr indent="0" marL="0">
              <a:buNone/>
            </a:pPr>
            <a:r>
              <a:rPr lang="en-US" sz="1500" b="1" dirty="0">
                <a:solidFill>
                  <a:schemeClr val="tx2"/>
                </a:solidFill>
              </a:rPr>
              <a:t>GUI → one Pane interface → Mux</a:t>
            </a:r>
            <a:endParaRPr lang="en-US" sz="1500" dirty="0"/>
          </a:p>
        </p:txBody>
      </p:sp>
      <p:sp>
        <p:nvSpPr>
          <p:cNvPr id="9" name="Text 6"/>
          <p:cNvSpPr txBox="1"/>
          <p:nvPr/>
        </p:nvSpPr>
        <p:spPr>
          <a:xfrm>
            <a:off x="1188720" y="1664208"/>
            <a:ext cx="3108960" cy="457200"/>
          </a:xfrm>
          <a:prstGeom prst="rect">
            <a:avLst/>
          </a:prstGeom>
          <a:noFill/>
          <a:ln/>
        </p:spPr>
        <p:txBody>
          <a:bodyPr wrap="square" lIns="0" tIns="0" rIns="0" bIns="0" rtlCol="0" anchor="t"/>
          <a:lstStyle/>
          <a:p>
            <a:pPr indent="0" marL="0">
              <a:buNone/>
            </a:pPr>
            <a:r>
              <a:rPr lang="en-US" sz="1400" dirty="0">
                <a:solidFill>
                  <a:schemeClr val="tx1"/>
                </a:solidFill>
              </a:rPr>
              <a:t>Local and remote: one Pane trait</a:t>
            </a:r>
            <a:endParaRPr lang="en-US" sz="1400" dirty="0"/>
          </a:p>
        </p:txBody>
      </p:sp>
      <p:sp>
        <p:nvSpPr>
          <p:cNvPr id="10" name="Text 7"/>
          <p:cNvSpPr txBox="1"/>
          <p:nvPr/>
        </p:nvSpPr>
        <p:spPr>
          <a:xfrm>
            <a:off x="1188720" y="2103120"/>
            <a:ext cx="3108960" cy="502920"/>
          </a:xfrm>
          <a:prstGeom prst="rect">
            <a:avLst/>
          </a:prstGeom>
          <a:noFill/>
          <a:ln/>
        </p:spPr>
        <p:txBody>
          <a:bodyPr wrap="square" lIns="0" tIns="0" rIns="0" bIns="0" rtlCol="0" anchor="t"/>
          <a:lstStyle/>
          <a:p>
            <a:pPr indent="0" marL="0">
              <a:buNone/>
            </a:pPr>
            <a:r>
              <a:rPr lang="en-US" sz="1400" b="1" dirty="0">
                <a:solidFill>
                  <a:schemeClr val="accent2"/>
                </a:solidFill>
              </a:rPr>
              <a:t>Why: </a:t>
            </a:r>
            <a:pPr indent="0" marL="0">
              <a:buNone/>
            </a:pPr>
            <a:r>
              <a:rPr lang="en-US" sz="1400" dirty="0">
                <a:solidFill>
                  <a:schemeClr val="tx1"/>
                </a:solidFill>
              </a:rPr>
              <a:t>the GUI draws both the same way</a:t>
            </a:r>
            <a:endParaRPr lang="en-US" sz="1400" dirty="0"/>
          </a:p>
        </p:txBody>
      </p:sp>
      <p:sp>
        <p:nvSpPr>
          <p:cNvPr id="11" name="card"/>
          <p:cNvSpPr/>
          <p:nvPr/>
        </p:nvSpPr>
        <p:spPr>
          <a:xfrm>
            <a:off x="4663440" y="914400"/>
            <a:ext cx="4023360" cy="1783080"/>
          </a:xfrm>
          <a:prstGeom prst="roundRect">
            <a:avLst>
              <a:gd name="adj" fmla="val 5128"/>
            </a:avLst>
          </a:prstGeom>
          <a:solidFill>
            <a:schemeClr val="bg2"/>
          </a:solidFill>
          <a:ln w="12700">
            <a:solidFill>
              <a:schemeClr val="bg2"/>
            </a:solidFill>
            <a:prstDash val="solid"/>
          </a:ln>
        </p:spPr>
      </p:sp>
      <p:sp>
        <p:nvSpPr>
          <p:cNvPr id="12" name="iconBg"/>
          <p:cNvSpPr/>
          <p:nvPr/>
        </p:nvSpPr>
        <p:spPr>
          <a:xfrm>
            <a:off x="4846320" y="1115568"/>
            <a:ext cx="457200" cy="457200"/>
          </a:xfrm>
          <a:prstGeom prst="ellipse">
            <a:avLst/>
          </a:prstGeom>
          <a:solidFill>
            <a:schemeClr val="accent2"/>
          </a:solidFill>
          <a:ln w="12700">
            <a:solidFill>
              <a:schemeClr val="accent2"/>
            </a:solidFill>
            <a:prstDash val="solid"/>
          </a:ln>
        </p:spPr>
      </p:sp>
      <p:pic>
        <p:nvPicPr>
          <p:cNvPr id="13" name="icon" descr="preencoded.png">    </p:cNvPr>
          <p:cNvPicPr>
            <a:picLocks noChangeAspect="1"/>
          </p:cNvPicPr>
          <p:nvPr/>
        </p:nvPicPr>
        <p:blipFill>
          <a:blip r:embed="rId2"/>
          <a:stretch>
            <a:fillRect/>
          </a:stretch>
        </p:blipFill>
        <p:spPr>
          <a:xfrm>
            <a:off x="4946904" y="1216152"/>
            <a:ext cx="256032" cy="256032"/>
          </a:xfrm>
          <a:prstGeom prst="rect">
            <a:avLst/>
          </a:prstGeom>
        </p:spPr>
      </p:pic>
      <p:sp>
        <p:nvSpPr>
          <p:cNvPr id="14" name="Text 10"/>
          <p:cNvSpPr txBox="1"/>
          <p:nvPr/>
        </p:nvSpPr>
        <p:spPr>
          <a:xfrm>
            <a:off x="5440680" y="1097280"/>
            <a:ext cx="3108960" cy="502920"/>
          </a:xfrm>
          <a:prstGeom prst="rect">
            <a:avLst/>
          </a:prstGeom>
          <a:noFill/>
          <a:ln/>
        </p:spPr>
        <p:txBody>
          <a:bodyPr wrap="square" lIns="0" tIns="0" rIns="0" bIns="0" rtlCol="0" anchor="ctr"/>
          <a:lstStyle/>
          <a:p>
            <a:pPr indent="0" marL="0">
              <a:buNone/>
            </a:pPr>
            <a:r>
              <a:rPr lang="en-US" sz="1500" b="1" dirty="0">
                <a:solidFill>
                  <a:schemeClr val="tx2"/>
                </a:solidFill>
              </a:rPr>
              <a:t>Mux ⇢ GUI: PaneOutput event</a:t>
            </a:r>
            <a:endParaRPr lang="en-US" sz="1500" dirty="0"/>
          </a:p>
        </p:txBody>
      </p:sp>
      <p:sp>
        <p:nvSpPr>
          <p:cNvPr id="15" name="Text 11"/>
          <p:cNvSpPr txBox="1"/>
          <p:nvPr/>
        </p:nvSpPr>
        <p:spPr>
          <a:xfrm>
            <a:off x="5440680" y="1664208"/>
            <a:ext cx="3108960" cy="457200"/>
          </a:xfrm>
          <a:prstGeom prst="rect">
            <a:avLst/>
          </a:prstGeom>
          <a:noFill/>
          <a:ln/>
        </p:spPr>
        <p:txBody>
          <a:bodyPr wrap="square" lIns="0" tIns="0" rIns="0" bIns="0" rtlCol="0" anchor="t"/>
          <a:lstStyle/>
          <a:p>
            <a:pPr indent="0" marL="0">
              <a:buNone/>
            </a:pPr>
            <a:r>
              <a:rPr lang="en-US" sz="1400" dirty="0">
                <a:solidFill>
                  <a:schemeClr val="tx1"/>
                </a:solidFill>
              </a:rPr>
              <a:t>Mux publishes; GUI pulls changed lines</a:t>
            </a:r>
            <a:endParaRPr lang="en-US" sz="1400" dirty="0"/>
          </a:p>
        </p:txBody>
      </p:sp>
      <p:sp>
        <p:nvSpPr>
          <p:cNvPr id="16" name="Text 12"/>
          <p:cNvSpPr txBox="1"/>
          <p:nvPr/>
        </p:nvSpPr>
        <p:spPr>
          <a:xfrm>
            <a:off x="5440680" y="2103120"/>
            <a:ext cx="3108960" cy="502920"/>
          </a:xfrm>
          <a:prstGeom prst="rect">
            <a:avLst/>
          </a:prstGeom>
          <a:noFill/>
          <a:ln/>
        </p:spPr>
        <p:txBody>
          <a:bodyPr wrap="square" lIns="0" tIns="0" rIns="0" bIns="0" rtlCol="0" anchor="t"/>
          <a:lstStyle/>
          <a:p>
            <a:pPr indent="0" marL="0">
              <a:buNone/>
            </a:pPr>
            <a:r>
              <a:rPr lang="en-US" sz="1400" b="1" dirty="0">
                <a:solidFill>
                  <a:schemeClr val="accent2"/>
                </a:solidFill>
              </a:rPr>
              <a:t>Why: </a:t>
            </a:r>
            <a:pPr indent="0" marL="0">
              <a:buNone/>
            </a:pPr>
            <a:r>
              <a:rPr lang="en-US" sz="1400" dirty="0">
                <a:solidFill>
                  <a:schemeClr val="tx1"/>
                </a:solidFill>
              </a:rPr>
              <a:t>a mux server can run with no GUI at all</a:t>
            </a:r>
            <a:endParaRPr lang="en-US" sz="1400" dirty="0"/>
          </a:p>
        </p:txBody>
      </p:sp>
      <p:sp>
        <p:nvSpPr>
          <p:cNvPr id="17" name="card"/>
          <p:cNvSpPr/>
          <p:nvPr/>
        </p:nvSpPr>
        <p:spPr>
          <a:xfrm>
            <a:off x="411480" y="2852928"/>
            <a:ext cx="4023360" cy="1783080"/>
          </a:xfrm>
          <a:prstGeom prst="roundRect">
            <a:avLst>
              <a:gd name="adj" fmla="val 5128"/>
            </a:avLst>
          </a:prstGeom>
          <a:solidFill>
            <a:schemeClr val="bg2"/>
          </a:solidFill>
          <a:ln w="12700">
            <a:solidFill>
              <a:schemeClr val="bg2"/>
            </a:solidFill>
            <a:prstDash val="solid"/>
          </a:ln>
        </p:spPr>
      </p:sp>
      <p:sp>
        <p:nvSpPr>
          <p:cNvPr id="18" name="iconBg"/>
          <p:cNvSpPr/>
          <p:nvPr/>
        </p:nvSpPr>
        <p:spPr>
          <a:xfrm>
            <a:off x="594360" y="3054096"/>
            <a:ext cx="457200" cy="457200"/>
          </a:xfrm>
          <a:prstGeom prst="ellipse">
            <a:avLst/>
          </a:prstGeom>
          <a:solidFill>
            <a:schemeClr val="accent1"/>
          </a:solidFill>
          <a:ln w="12700">
            <a:solidFill>
              <a:schemeClr val="accent1"/>
            </a:solidFill>
            <a:prstDash val="solid"/>
          </a:ln>
        </p:spPr>
      </p:sp>
      <p:pic>
        <p:nvPicPr>
          <p:cNvPr id="19" name="icon" descr="preencoded.png">    </p:cNvPr>
          <p:cNvPicPr>
            <a:picLocks noChangeAspect="1"/>
          </p:cNvPicPr>
          <p:nvPr/>
        </p:nvPicPr>
        <p:blipFill>
          <a:blip r:embed="rId3"/>
          <a:stretch>
            <a:fillRect/>
          </a:stretch>
        </p:blipFill>
        <p:spPr>
          <a:xfrm>
            <a:off x="694944" y="3154680"/>
            <a:ext cx="256032" cy="256032"/>
          </a:xfrm>
          <a:prstGeom prst="rect">
            <a:avLst/>
          </a:prstGeom>
        </p:spPr>
      </p:pic>
      <p:sp>
        <p:nvSpPr>
          <p:cNvPr id="20" name="Text 15"/>
          <p:cNvSpPr txBox="1"/>
          <p:nvPr/>
        </p:nvSpPr>
        <p:spPr>
          <a:xfrm>
            <a:off x="1188720" y="3035808"/>
            <a:ext cx="3108960" cy="502920"/>
          </a:xfrm>
          <a:prstGeom prst="rect">
            <a:avLst/>
          </a:prstGeom>
          <a:noFill/>
          <a:ln/>
        </p:spPr>
        <p:txBody>
          <a:bodyPr wrap="square" lIns="0" tIns="0" rIns="0" bIns="0" rtlCol="0" anchor="ctr"/>
          <a:lstStyle/>
          <a:p>
            <a:pPr indent="0" marL="0">
              <a:buNone/>
            </a:pPr>
            <a:r>
              <a:rPr lang="en-US" sz="1500" b="1" dirty="0">
                <a:solidFill>
                  <a:schemeClr val="tx2"/>
                </a:solidFill>
              </a:rPr>
              <a:t>A reader thread per pane</a:t>
            </a:r>
            <a:endParaRPr lang="en-US" sz="1500" dirty="0"/>
          </a:p>
        </p:txBody>
      </p:sp>
      <p:sp>
        <p:nvSpPr>
          <p:cNvPr id="21" name="Text 16"/>
          <p:cNvSpPr txBox="1"/>
          <p:nvPr/>
        </p:nvSpPr>
        <p:spPr>
          <a:xfrm>
            <a:off x="1188720" y="3602736"/>
            <a:ext cx="3108960" cy="457200"/>
          </a:xfrm>
          <a:prstGeom prst="rect">
            <a:avLst/>
          </a:prstGeom>
          <a:noFill/>
          <a:ln/>
        </p:spPr>
        <p:txBody>
          <a:bodyPr wrap="square" lIns="0" tIns="0" rIns="0" bIns="0" rtlCol="0" anchor="t"/>
          <a:lstStyle/>
          <a:p>
            <a:pPr indent="0" marL="0">
              <a:buNone/>
            </a:pPr>
            <a:r>
              <a:rPr lang="en-US" sz="1400" dirty="0">
                <a:solidFill>
                  <a:schemeClr val="tx1"/>
                </a:solidFill>
              </a:rPr>
              <a:t>PTY output parsed off the GUI thread</a:t>
            </a:r>
            <a:endParaRPr lang="en-US" sz="1400" dirty="0"/>
          </a:p>
        </p:txBody>
      </p:sp>
      <p:sp>
        <p:nvSpPr>
          <p:cNvPr id="22" name="Text 17"/>
          <p:cNvSpPr txBox="1"/>
          <p:nvPr/>
        </p:nvSpPr>
        <p:spPr>
          <a:xfrm>
            <a:off x="1188720" y="4041648"/>
            <a:ext cx="3108960" cy="502920"/>
          </a:xfrm>
          <a:prstGeom prst="rect">
            <a:avLst/>
          </a:prstGeom>
          <a:noFill/>
          <a:ln/>
        </p:spPr>
        <p:txBody>
          <a:bodyPr wrap="square" lIns="0" tIns="0" rIns="0" bIns="0" rtlCol="0" anchor="t"/>
          <a:lstStyle/>
          <a:p>
            <a:pPr indent="0" marL="0">
              <a:buNone/>
            </a:pPr>
            <a:r>
              <a:rPr lang="en-US" sz="1400" b="1" dirty="0">
                <a:solidFill>
                  <a:schemeClr val="accent2"/>
                </a:solidFill>
              </a:rPr>
              <a:t>Why: </a:t>
            </a:r>
            <a:pPr indent="0" marL="0">
              <a:buNone/>
            </a:pPr>
            <a:r>
              <a:rPr lang="en-US" sz="1400" dirty="0">
                <a:solidFill>
                  <a:schemeClr val="tx1"/>
                </a:solidFill>
              </a:rPr>
              <a:t>heavy output can't freeze the window</a:t>
            </a:r>
            <a:endParaRPr lang="en-US" sz="1400" dirty="0"/>
          </a:p>
        </p:txBody>
      </p:sp>
      <p:sp>
        <p:nvSpPr>
          <p:cNvPr id="23" name="card"/>
          <p:cNvSpPr/>
          <p:nvPr/>
        </p:nvSpPr>
        <p:spPr>
          <a:xfrm>
            <a:off x="4663440" y="2852928"/>
            <a:ext cx="4023360" cy="1783080"/>
          </a:xfrm>
          <a:prstGeom prst="roundRect">
            <a:avLst>
              <a:gd name="adj" fmla="val 5128"/>
            </a:avLst>
          </a:prstGeom>
          <a:solidFill>
            <a:schemeClr val="bg2"/>
          </a:solidFill>
          <a:ln w="12700">
            <a:solidFill>
              <a:schemeClr val="bg2"/>
            </a:solidFill>
            <a:prstDash val="solid"/>
          </a:ln>
        </p:spPr>
      </p:sp>
      <p:sp>
        <p:nvSpPr>
          <p:cNvPr id="24" name="iconBg"/>
          <p:cNvSpPr/>
          <p:nvPr/>
        </p:nvSpPr>
        <p:spPr>
          <a:xfrm>
            <a:off x="4846320" y="3054096"/>
            <a:ext cx="457200" cy="457200"/>
          </a:xfrm>
          <a:prstGeom prst="ellipse">
            <a:avLst/>
          </a:prstGeom>
          <a:solidFill>
            <a:schemeClr val="accent3"/>
          </a:solidFill>
          <a:ln w="12700">
            <a:solidFill>
              <a:schemeClr val="accent3"/>
            </a:solidFill>
            <a:prstDash val="solid"/>
          </a:ln>
        </p:spPr>
      </p:sp>
      <p:pic>
        <p:nvPicPr>
          <p:cNvPr id="25" name="icon" descr="preencoded.png">    </p:cNvPr>
          <p:cNvPicPr>
            <a:picLocks noChangeAspect="1"/>
          </p:cNvPicPr>
          <p:nvPr/>
        </p:nvPicPr>
        <p:blipFill>
          <a:blip r:embed="rId4"/>
          <a:stretch>
            <a:fillRect/>
          </a:stretch>
        </p:blipFill>
        <p:spPr>
          <a:xfrm>
            <a:off x="4946904" y="3154680"/>
            <a:ext cx="256032" cy="256032"/>
          </a:xfrm>
          <a:prstGeom prst="rect">
            <a:avLst/>
          </a:prstGeom>
        </p:spPr>
      </p:pic>
      <p:sp>
        <p:nvSpPr>
          <p:cNvPr id="26" name="Text 20"/>
          <p:cNvSpPr txBox="1"/>
          <p:nvPr/>
        </p:nvSpPr>
        <p:spPr>
          <a:xfrm>
            <a:off x="5440680" y="3035808"/>
            <a:ext cx="3108960" cy="502920"/>
          </a:xfrm>
          <a:prstGeom prst="rect">
            <a:avLst/>
          </a:prstGeom>
          <a:noFill/>
          <a:ln/>
        </p:spPr>
        <p:txBody>
          <a:bodyPr wrap="square" lIns="0" tIns="0" rIns="0" bIns="0" rtlCol="0" anchor="ctr"/>
          <a:lstStyle/>
          <a:p>
            <a:pPr indent="0" marL="0">
              <a:buNone/>
            </a:pPr>
            <a:r>
              <a:rPr lang="en-US" sz="1500" b="1" dirty="0">
                <a:solidFill>
                  <a:schemeClr val="tx2"/>
                </a:solidFill>
              </a:rPr>
              <a:t>Config ⇢ everyone; Lua → Mux</a:t>
            </a:r>
            <a:endParaRPr lang="en-US" sz="1500" dirty="0"/>
          </a:p>
        </p:txBody>
      </p:sp>
      <p:sp>
        <p:nvSpPr>
          <p:cNvPr id="27" name="Text 21"/>
          <p:cNvSpPr txBox="1"/>
          <p:nvPr/>
        </p:nvSpPr>
        <p:spPr>
          <a:xfrm>
            <a:off x="5440680" y="3602736"/>
            <a:ext cx="3108960" cy="457200"/>
          </a:xfrm>
          <a:prstGeom prst="rect">
            <a:avLst/>
          </a:prstGeom>
          <a:noFill/>
          <a:ln/>
        </p:spPr>
        <p:txBody>
          <a:bodyPr wrap="square" lIns="0" tIns="0" rIns="0" bIns="0" rtlCol="0" anchor="t"/>
          <a:lstStyle/>
          <a:p>
            <a:pPr indent="0" marL="0">
              <a:buNone/>
            </a:pPr>
            <a:r>
              <a:rPr lang="en-US" sz="1400" dirty="0">
                <a:solidFill>
                  <a:schemeClr val="tx1"/>
                </a:solidFill>
              </a:rPr>
              <a:t>Settings flow one way, read-only</a:t>
            </a:r>
            <a:endParaRPr lang="en-US" sz="1400" dirty="0"/>
          </a:p>
        </p:txBody>
      </p:sp>
      <p:sp>
        <p:nvSpPr>
          <p:cNvPr id="28" name="Text 22"/>
          <p:cNvSpPr txBox="1"/>
          <p:nvPr/>
        </p:nvSpPr>
        <p:spPr>
          <a:xfrm>
            <a:off x="5440680" y="4041648"/>
            <a:ext cx="3108960" cy="502920"/>
          </a:xfrm>
          <a:prstGeom prst="rect">
            <a:avLst/>
          </a:prstGeom>
          <a:noFill/>
          <a:ln/>
        </p:spPr>
        <p:txBody>
          <a:bodyPr wrap="square" lIns="0" tIns="0" rIns="0" bIns="0" rtlCol="0" anchor="t"/>
          <a:lstStyle/>
          <a:p>
            <a:pPr indent="0" marL="0">
              <a:buNone/>
            </a:pPr>
            <a:r>
              <a:rPr lang="en-US" sz="1400" b="1" dirty="0">
                <a:solidFill>
                  <a:schemeClr val="accent2"/>
                </a:solidFill>
              </a:rPr>
              <a:t>Why: </a:t>
            </a:r>
            <a:pPr indent="0" marL="0">
              <a:buNone/>
            </a:pPr>
            <a:r>
              <a:rPr lang="en-US" sz="1400" dirty="0">
                <a:solidFill>
                  <a:schemeClr val="tx1"/>
                </a:solidFill>
              </a:rPr>
              <a:t>scripts can still drive sessions via wezterm.mux</a:t>
            </a:r>
            <a:endParaRPr lang="en-US" sz="14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Use case 1: type a command, see the output</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§5.1</a:t>
            </a:r>
            <a:endParaRPr lang="en-US" sz="1200" dirty="0"/>
          </a:p>
        </p:txBody>
      </p:sp>
      <p:pic>
        <p:nvPicPr>
          <p:cNvPr id="5" name="uc1Diagram" descr="img/uc1_c.png">    </p:cNvPr>
          <p:cNvPicPr>
            <a:picLocks noChangeAspect="1"/>
          </p:cNvPicPr>
          <p:nvPr/>
        </p:nvPicPr>
        <p:blipFill>
          <a:blip r:embed="rId1"/>
          <a:stretch>
            <a:fillRect/>
          </a:stretch>
        </p:blipFill>
        <p:spPr>
          <a:xfrm>
            <a:off x="320040" y="804672"/>
            <a:ext cx="6145524" cy="4160520"/>
          </a:xfrm>
          <a:prstGeom prst="rect">
            <a:avLst/>
          </a:prstGeom>
        </p:spPr>
      </p:pic>
      <p:sp>
        <p:nvSpPr>
          <p:cNvPr id="6" name="card"/>
          <p:cNvSpPr/>
          <p:nvPr/>
        </p:nvSpPr>
        <p:spPr>
          <a:xfrm>
            <a:off x="6675120" y="868680"/>
            <a:ext cx="2057400" cy="914400"/>
          </a:xfrm>
          <a:prstGeom prst="roundRect">
            <a:avLst>
              <a:gd name="adj" fmla="val 10000"/>
            </a:avLst>
          </a:prstGeom>
          <a:solidFill>
            <a:schemeClr val="bg2"/>
          </a:solidFill>
          <a:ln w="12700">
            <a:solidFill>
              <a:schemeClr val="bg2"/>
            </a:solidFill>
            <a:prstDash val="solid"/>
          </a:ln>
        </p:spPr>
      </p:sp>
      <p:sp>
        <p:nvSpPr>
          <p:cNvPr id="7" name="Text 4"/>
          <p:cNvSpPr txBox="1"/>
          <p:nvPr/>
        </p:nvSpPr>
        <p:spPr>
          <a:xfrm>
            <a:off x="6784848" y="941832"/>
            <a:ext cx="1837944" cy="256032"/>
          </a:xfrm>
          <a:prstGeom prst="rect">
            <a:avLst/>
          </a:prstGeom>
          <a:noFill/>
          <a:ln/>
        </p:spPr>
        <p:txBody>
          <a:bodyPr wrap="square" lIns="0" tIns="0" rIns="0" bIns="0" rtlCol="0" anchor="t"/>
          <a:lstStyle/>
          <a:p>
            <a:pPr indent="0" marL="0">
              <a:buNone/>
            </a:pPr>
            <a:r>
              <a:rPr lang="en-US" sz="1300" b="1" dirty="0">
                <a:solidFill>
                  <a:schemeClr val="accent1"/>
                </a:solidFill>
              </a:rPr>
              <a:t>Steps 1–6 · Input</a:t>
            </a:r>
            <a:endParaRPr lang="en-US" sz="1300" dirty="0"/>
          </a:p>
        </p:txBody>
      </p:sp>
      <p:sp>
        <p:nvSpPr>
          <p:cNvPr id="8" name="Text 5"/>
          <p:cNvSpPr txBox="1"/>
          <p:nvPr/>
        </p:nvSpPr>
        <p:spPr>
          <a:xfrm>
            <a:off x="6784848" y="1216152"/>
            <a:ext cx="1837944" cy="457200"/>
          </a:xfrm>
          <a:prstGeom prst="rect">
            <a:avLst/>
          </a:prstGeom>
          <a:noFill/>
          <a:ln/>
        </p:spPr>
        <p:txBody>
          <a:bodyPr wrap="square" lIns="0" tIns="0" rIns="0" bIns="0" rtlCol="0" anchor="t"/>
          <a:lstStyle/>
          <a:p>
            <a:pPr indent="0" marL="0">
              <a:buNone/>
            </a:pPr>
            <a:r>
              <a:rPr lang="en-US" sz="1200" dirty="0">
                <a:solidFill>
                  <a:schemeClr val="tx1"/>
                </a:solidFill>
              </a:rPr>
              <a:t>Key → Mux → Terminal Core encodes → PTY → shell</a:t>
            </a:r>
            <a:endParaRPr lang="en-US" sz="1200" dirty="0"/>
          </a:p>
        </p:txBody>
      </p:sp>
      <p:sp>
        <p:nvSpPr>
          <p:cNvPr id="9" name="card"/>
          <p:cNvSpPr/>
          <p:nvPr/>
        </p:nvSpPr>
        <p:spPr>
          <a:xfrm>
            <a:off x="6675120" y="1847088"/>
            <a:ext cx="2057400" cy="914400"/>
          </a:xfrm>
          <a:prstGeom prst="roundRect">
            <a:avLst>
              <a:gd name="adj" fmla="val 10000"/>
            </a:avLst>
          </a:prstGeom>
          <a:solidFill>
            <a:schemeClr val="bg2"/>
          </a:solidFill>
          <a:ln w="12700">
            <a:solidFill>
              <a:schemeClr val="bg2"/>
            </a:solidFill>
            <a:prstDash val="solid"/>
          </a:ln>
        </p:spPr>
      </p:sp>
      <p:sp>
        <p:nvSpPr>
          <p:cNvPr id="10" name="Text 7"/>
          <p:cNvSpPr txBox="1"/>
          <p:nvPr/>
        </p:nvSpPr>
        <p:spPr>
          <a:xfrm>
            <a:off x="6784848" y="1920240"/>
            <a:ext cx="1837944" cy="256032"/>
          </a:xfrm>
          <a:prstGeom prst="rect">
            <a:avLst/>
          </a:prstGeom>
          <a:noFill/>
          <a:ln/>
        </p:spPr>
        <p:txBody>
          <a:bodyPr wrap="square" lIns="0" tIns="0" rIns="0" bIns="0" rtlCol="0" anchor="t"/>
          <a:lstStyle/>
          <a:p>
            <a:pPr indent="0" marL="0">
              <a:buNone/>
            </a:pPr>
            <a:r>
              <a:rPr lang="en-US" sz="1300" b="1" dirty="0">
                <a:solidFill>
                  <a:schemeClr val="accent2"/>
                </a:solidFill>
              </a:rPr>
              <a:t>Steps 7–13 · Output</a:t>
            </a:r>
            <a:endParaRPr lang="en-US" sz="1300" dirty="0"/>
          </a:p>
        </p:txBody>
      </p:sp>
      <p:sp>
        <p:nvSpPr>
          <p:cNvPr id="11" name="Text 8"/>
          <p:cNvSpPr txBox="1"/>
          <p:nvPr/>
        </p:nvSpPr>
        <p:spPr>
          <a:xfrm>
            <a:off x="6784848" y="2194560"/>
            <a:ext cx="1837944" cy="457200"/>
          </a:xfrm>
          <a:prstGeom prst="rect">
            <a:avLst/>
          </a:prstGeom>
          <a:noFill/>
          <a:ln/>
        </p:spPr>
        <p:txBody>
          <a:bodyPr wrap="square" lIns="0" tIns="0" rIns="0" bIns="0" rtlCol="0" anchor="t"/>
          <a:lstStyle/>
          <a:p>
            <a:pPr indent="0" marL="0">
              <a:buNone/>
            </a:pPr>
            <a:r>
              <a:rPr lang="en-US" sz="1200" dirty="0">
                <a:solidFill>
                  <a:schemeClr val="tx1"/>
                </a:solidFill>
              </a:rPr>
              <a:t>Reader thread parses; Mux publishes PaneOutput</a:t>
            </a:r>
            <a:endParaRPr lang="en-US" sz="1200" dirty="0"/>
          </a:p>
        </p:txBody>
      </p:sp>
      <p:sp>
        <p:nvSpPr>
          <p:cNvPr id="12" name="card"/>
          <p:cNvSpPr/>
          <p:nvPr/>
        </p:nvSpPr>
        <p:spPr>
          <a:xfrm>
            <a:off x="6675120" y="2825496"/>
            <a:ext cx="2057400" cy="914400"/>
          </a:xfrm>
          <a:prstGeom prst="roundRect">
            <a:avLst>
              <a:gd name="adj" fmla="val 10000"/>
            </a:avLst>
          </a:prstGeom>
          <a:solidFill>
            <a:schemeClr val="bg2"/>
          </a:solidFill>
          <a:ln w="12700">
            <a:solidFill>
              <a:schemeClr val="bg2"/>
            </a:solidFill>
            <a:prstDash val="solid"/>
          </a:ln>
        </p:spPr>
      </p:sp>
      <p:sp>
        <p:nvSpPr>
          <p:cNvPr id="13" name="Text 10"/>
          <p:cNvSpPr txBox="1"/>
          <p:nvPr/>
        </p:nvSpPr>
        <p:spPr>
          <a:xfrm>
            <a:off x="6784848" y="2898648"/>
            <a:ext cx="1837944" cy="256032"/>
          </a:xfrm>
          <a:prstGeom prst="rect">
            <a:avLst/>
          </a:prstGeom>
          <a:noFill/>
          <a:ln/>
        </p:spPr>
        <p:txBody>
          <a:bodyPr wrap="square" lIns="0" tIns="0" rIns="0" bIns="0" rtlCol="0" anchor="t"/>
          <a:lstStyle/>
          <a:p>
            <a:pPr indent="0" marL="0">
              <a:buNone/>
            </a:pPr>
            <a:r>
              <a:rPr lang="en-US" sz="1300" b="1" dirty="0">
                <a:solidFill>
                  <a:schemeClr val="accent1"/>
                </a:solidFill>
              </a:rPr>
              <a:t>Steps 14–19 · Render</a:t>
            </a:r>
            <a:endParaRPr lang="en-US" sz="1300" dirty="0"/>
          </a:p>
        </p:txBody>
      </p:sp>
      <p:sp>
        <p:nvSpPr>
          <p:cNvPr id="14" name="Text 11"/>
          <p:cNvSpPr txBox="1"/>
          <p:nvPr/>
        </p:nvSpPr>
        <p:spPr>
          <a:xfrm>
            <a:off x="6784848" y="3172968"/>
            <a:ext cx="1837944" cy="457200"/>
          </a:xfrm>
          <a:prstGeom prst="rect">
            <a:avLst/>
          </a:prstGeom>
          <a:noFill/>
          <a:ln/>
        </p:spPr>
        <p:txBody>
          <a:bodyPr wrap="square" lIns="0" tIns="0" rIns="0" bIns="0" rtlCol="0" anchor="t"/>
          <a:lstStyle/>
          <a:p>
            <a:pPr indent="0" marL="0">
              <a:buNone/>
            </a:pPr>
            <a:r>
              <a:rPr lang="en-US" sz="1200" dirty="0">
                <a:solidFill>
                  <a:schemeClr val="tx1"/>
                </a:solidFill>
              </a:rPr>
              <a:t>GUI pulls dirty lines, shapes them, draws the frame</a:t>
            </a:r>
            <a:endParaRPr lang="en-US" sz="1200" dirty="0"/>
          </a:p>
        </p:txBody>
      </p:sp>
      <p:sp>
        <p:nvSpPr>
          <p:cNvPr id="15" name="card"/>
          <p:cNvSpPr/>
          <p:nvPr/>
        </p:nvSpPr>
        <p:spPr>
          <a:xfrm>
            <a:off x="6675120" y="3858768"/>
            <a:ext cx="2057400" cy="841248"/>
          </a:xfrm>
          <a:prstGeom prst="roundRect">
            <a:avLst>
              <a:gd name="adj" fmla="val 10870"/>
            </a:avLst>
          </a:prstGeom>
          <a:solidFill>
            <a:schemeClr val="tx2"/>
          </a:solidFill>
          <a:ln w="12700">
            <a:solidFill>
              <a:schemeClr val="tx2"/>
            </a:solidFill>
            <a:prstDash val="solid"/>
          </a:ln>
        </p:spPr>
      </p:sp>
      <p:sp>
        <p:nvSpPr>
          <p:cNvPr id="16" name="Text 13"/>
          <p:cNvSpPr txBox="1"/>
          <p:nvPr/>
        </p:nvSpPr>
        <p:spPr>
          <a:xfrm>
            <a:off x="6784848" y="3877056"/>
            <a:ext cx="1837944" cy="804672"/>
          </a:xfrm>
          <a:prstGeom prst="rect">
            <a:avLst/>
          </a:prstGeom>
          <a:noFill/>
          <a:ln/>
        </p:spPr>
        <p:txBody>
          <a:bodyPr wrap="square" lIns="0" tIns="0" rIns="0" bIns="0" rtlCol="0" anchor="ctr"/>
          <a:lstStyle/>
          <a:p>
            <a:pPr indent="0" marL="0">
              <a:buNone/>
            </a:pPr>
            <a:r>
              <a:rPr lang="en-US" sz="1200" b="1" dirty="0">
                <a:solidFill>
                  <a:schemeClr val="bg1"/>
                </a:solidFill>
              </a:rPr>
              <a:t>Matches §3</a:t>
            </a:r>
            <a:endParaRPr lang="en-US" sz="1200" dirty="0"/>
          </a:p>
          <a:p>
            <a:pPr indent="0" marL="0">
              <a:buNone/>
            </a:pPr>
            <a:r>
              <a:rPr lang="en-US" sz="1200" dirty="0">
                <a:solidFill>
                  <a:schemeClr val="bg1"/>
                </a:solidFill>
              </a:rPr>
              <a:t>Step 9 = perform_actions()</a:t>
            </a:r>
            <a:endParaRPr lang="en-US" sz="1200" dirty="0"/>
          </a:p>
          <a:p>
            <a:pPr indent="0" marL="0">
              <a:buNone/>
            </a:pPr>
            <a:r>
              <a:rPr lang="en-US" sz="1200" dirty="0">
                <a:solidFill>
                  <a:schemeClr val="bg1"/>
                </a:solidFill>
              </a:rPr>
              <a:t>Step 13 = green PaneOutput</a:t>
            </a:r>
            <a:endParaRPr lang="en-US" sz="12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Use case 2: reconnect to a saved session</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§5.2</a:t>
            </a:r>
            <a:endParaRPr lang="en-US" sz="1200" dirty="0"/>
          </a:p>
        </p:txBody>
      </p:sp>
      <p:pic>
        <p:nvPicPr>
          <p:cNvPr id="5" name="uc2Diagram" descr="img/uc2_c.png">    </p:cNvPr>
          <p:cNvPicPr>
            <a:picLocks noChangeAspect="1"/>
          </p:cNvPicPr>
          <p:nvPr/>
        </p:nvPicPr>
        <p:blipFill>
          <a:blip r:embed="rId1"/>
          <a:stretch>
            <a:fillRect/>
          </a:stretch>
        </p:blipFill>
        <p:spPr>
          <a:xfrm>
            <a:off x="640080" y="777240"/>
            <a:ext cx="7863840" cy="3731392"/>
          </a:xfrm>
          <a:prstGeom prst="rect">
            <a:avLst/>
          </a:prstGeom>
        </p:spPr>
      </p:pic>
      <p:sp>
        <p:nvSpPr>
          <p:cNvPr id="6" name="Shape 3"/>
          <p:cNvSpPr/>
          <p:nvPr/>
        </p:nvSpPr>
        <p:spPr>
          <a:xfrm>
            <a:off x="411480" y="4645152"/>
            <a:ext cx="2560320" cy="347472"/>
          </a:xfrm>
          <a:prstGeom prst="roundRect">
            <a:avLst>
              <a:gd name="adj" fmla="val 21053"/>
            </a:avLst>
          </a:prstGeom>
          <a:solidFill>
            <a:schemeClr val="bg2"/>
          </a:solidFill>
          <a:ln w="12700">
            <a:solidFill>
              <a:schemeClr val="accent1"/>
            </a:solidFill>
            <a:prstDash val="solid"/>
          </a:ln>
        </p:spPr>
      </p:sp>
      <p:sp>
        <p:nvSpPr>
          <p:cNvPr id="7" name="Text 4"/>
          <p:cNvSpPr txBox="1"/>
          <p:nvPr/>
        </p:nvSpPr>
        <p:spPr>
          <a:xfrm>
            <a:off x="502920" y="4645152"/>
            <a:ext cx="2423160" cy="34747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1–7  </a:t>
            </a:r>
            <a:pPr indent="0" marL="0">
              <a:buNone/>
            </a:pPr>
            <a:r>
              <a:rPr lang="en-US" sz="1200" dirty="0">
                <a:solidFill>
                  <a:schemeClr val="tx1"/>
                </a:solidFill>
              </a:rPr>
              <a:t>Startup: load the unix domain</a:t>
            </a:r>
            <a:endParaRPr lang="en-US" sz="1200" dirty="0"/>
          </a:p>
        </p:txBody>
      </p:sp>
      <p:sp>
        <p:nvSpPr>
          <p:cNvPr id="8" name="Shape 5"/>
          <p:cNvSpPr/>
          <p:nvPr/>
        </p:nvSpPr>
        <p:spPr>
          <a:xfrm>
            <a:off x="3108960" y="4645152"/>
            <a:ext cx="2560320" cy="347472"/>
          </a:xfrm>
          <a:prstGeom prst="roundRect">
            <a:avLst>
              <a:gd name="adj" fmla="val 21053"/>
            </a:avLst>
          </a:prstGeom>
          <a:solidFill>
            <a:schemeClr val="bg2"/>
          </a:solidFill>
          <a:ln w="12700">
            <a:solidFill>
              <a:schemeClr val="accent1"/>
            </a:solidFill>
            <a:prstDash val="solid"/>
          </a:ln>
        </p:spPr>
      </p:sp>
      <p:sp>
        <p:nvSpPr>
          <p:cNvPr id="9" name="Text 6"/>
          <p:cNvSpPr txBox="1"/>
          <p:nvPr/>
        </p:nvSpPr>
        <p:spPr>
          <a:xfrm>
            <a:off x="3200400" y="4645152"/>
            <a:ext cx="2423160" cy="347472"/>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8–14  </a:t>
            </a:r>
            <a:pPr indent="0" marL="0">
              <a:buNone/>
            </a:pPr>
            <a:r>
              <a:rPr lang="en-US" sz="1200" dirty="0">
                <a:solidFill>
                  <a:schemeClr val="tx1"/>
                </a:solidFill>
              </a:rPr>
              <a:t>Handshake + proxy panes</a:t>
            </a:r>
            <a:endParaRPr lang="en-US" sz="1200" dirty="0"/>
          </a:p>
        </p:txBody>
      </p:sp>
      <p:sp>
        <p:nvSpPr>
          <p:cNvPr id="10" name="Shape 7"/>
          <p:cNvSpPr/>
          <p:nvPr/>
        </p:nvSpPr>
        <p:spPr>
          <a:xfrm>
            <a:off x="5806440" y="4645152"/>
            <a:ext cx="2560320" cy="347472"/>
          </a:xfrm>
          <a:prstGeom prst="roundRect">
            <a:avLst>
              <a:gd name="adj" fmla="val 21053"/>
            </a:avLst>
          </a:prstGeom>
          <a:solidFill>
            <a:schemeClr val="bg2"/>
          </a:solidFill>
          <a:ln w="12700">
            <a:solidFill>
              <a:schemeClr val="accent2"/>
            </a:solidFill>
            <a:prstDash val="solid"/>
          </a:ln>
        </p:spPr>
      </p:sp>
      <p:sp>
        <p:nvSpPr>
          <p:cNvPr id="11" name="Text 8"/>
          <p:cNvSpPr txBox="1"/>
          <p:nvPr/>
        </p:nvSpPr>
        <p:spPr>
          <a:xfrm>
            <a:off x="5897880" y="4645152"/>
            <a:ext cx="2423160" cy="34747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15–22  </a:t>
            </a:r>
            <a:pPr indent="0" marL="0">
              <a:buNone/>
            </a:pPr>
            <a:r>
              <a:rPr lang="en-US" sz="1200" dirty="0">
                <a:solidFill>
                  <a:schemeClr val="tx1"/>
                </a:solidFill>
              </a:rPr>
              <a:t>Fetch lines + redraw</a:t>
            </a:r>
            <a:endParaRPr lang="en-US" sz="12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Style 1: client–server</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§6.1</a:t>
            </a:r>
            <a:endParaRPr lang="en-US" sz="1200" dirty="0"/>
          </a:p>
        </p:txBody>
      </p:sp>
      <p:sp>
        <p:nvSpPr>
          <p:cNvPr id="5" name="Shape 3"/>
          <p:cNvSpPr/>
          <p:nvPr/>
        </p:nvSpPr>
        <p:spPr>
          <a:xfrm>
            <a:off x="548640" y="960120"/>
            <a:ext cx="2377440" cy="1051560"/>
          </a:xfrm>
          <a:prstGeom prst="roundRect">
            <a:avLst>
              <a:gd name="adj" fmla="val 8696"/>
            </a:avLst>
          </a:prstGeom>
          <a:solidFill>
            <a:schemeClr val="bg1"/>
          </a:solidFill>
          <a:ln w="25400">
            <a:solidFill>
              <a:schemeClr val="accent1"/>
            </a:solidFill>
            <a:prstDash val="solid"/>
          </a:ln>
        </p:spPr>
      </p:sp>
      <p:sp>
        <p:nvSpPr>
          <p:cNvPr id="6" name="Text 4"/>
          <p:cNvSpPr txBox="1"/>
          <p:nvPr/>
        </p:nvSpPr>
        <p:spPr>
          <a:xfrm>
            <a:off x="640080" y="960120"/>
            <a:ext cx="2194560" cy="1051560"/>
          </a:xfrm>
          <a:prstGeom prst="rect">
            <a:avLst/>
          </a:prstGeom>
          <a:noFill/>
          <a:ln/>
        </p:spPr>
        <p:txBody>
          <a:bodyPr wrap="square" lIns="0" tIns="0" rIns="0" bIns="0" rtlCol="0" anchor="ctr"/>
          <a:lstStyle/>
          <a:p>
            <a:pPr algn="ctr" indent="0" marL="0">
              <a:buNone/>
            </a:pPr>
            <a:r>
              <a:rPr lang="en-US" sz="1500" b="1" dirty="0">
                <a:solidFill>
                  <a:schemeClr val="tx2"/>
                </a:solidFill>
              </a:rPr>
              <a:t>GUI (client)</a:t>
            </a:r>
            <a:endParaRPr lang="en-US" sz="1500" dirty="0"/>
          </a:p>
          <a:p>
            <a:pPr algn="ctr" indent="0" marL="0">
              <a:buNone/>
            </a:pPr>
            <a:r>
              <a:rPr lang="en-US" sz="1200" dirty="0">
                <a:solidFill>
                  <a:schemeClr val="accent4"/>
                </a:solidFill>
              </a:rPr>
              <a:t>proxy panes, local fonts</a:t>
            </a:r>
            <a:endParaRPr lang="en-US" sz="1500" dirty="0"/>
          </a:p>
        </p:txBody>
      </p:sp>
      <p:sp>
        <p:nvSpPr>
          <p:cNvPr id="7" name="Shape 5"/>
          <p:cNvSpPr/>
          <p:nvPr/>
        </p:nvSpPr>
        <p:spPr>
          <a:xfrm>
            <a:off x="6217920" y="960120"/>
            <a:ext cx="2468880" cy="1051560"/>
          </a:xfrm>
          <a:prstGeom prst="roundRect">
            <a:avLst>
              <a:gd name="adj" fmla="val 8696"/>
            </a:avLst>
          </a:prstGeom>
          <a:solidFill>
            <a:schemeClr val="bg1"/>
          </a:solidFill>
          <a:ln w="25400">
            <a:solidFill>
              <a:schemeClr val="accent2"/>
            </a:solidFill>
            <a:prstDash val="solid"/>
          </a:ln>
        </p:spPr>
      </p:sp>
      <p:sp>
        <p:nvSpPr>
          <p:cNvPr id="8" name="Text 6"/>
          <p:cNvSpPr txBox="1"/>
          <p:nvPr/>
        </p:nvSpPr>
        <p:spPr>
          <a:xfrm>
            <a:off x="6309360" y="960120"/>
            <a:ext cx="2286000" cy="1051560"/>
          </a:xfrm>
          <a:prstGeom prst="rect">
            <a:avLst/>
          </a:prstGeom>
          <a:noFill/>
          <a:ln/>
        </p:spPr>
        <p:txBody>
          <a:bodyPr wrap="square" lIns="0" tIns="0" rIns="0" bIns="0" rtlCol="0" anchor="ctr"/>
          <a:lstStyle/>
          <a:p>
            <a:pPr algn="ctr" indent="0" marL="0">
              <a:buNone/>
            </a:pPr>
            <a:r>
              <a:rPr lang="en-US" sz="1500" b="1" dirty="0">
                <a:solidFill>
                  <a:schemeClr val="tx2"/>
                </a:solidFill>
              </a:rPr>
              <a:t>wezterm-mux-server</a:t>
            </a:r>
            <a:endParaRPr lang="en-US" sz="1500" dirty="0"/>
          </a:p>
          <a:p>
            <a:pPr algn="ctr" indent="0" marL="0">
              <a:buNone/>
            </a:pPr>
            <a:r>
              <a:rPr lang="en-US" sz="1200" dirty="0">
                <a:solidFill>
                  <a:schemeClr val="accent4"/>
                </a:solidFill>
              </a:rPr>
              <a:t>real Terminals + PTYs</a:t>
            </a:r>
            <a:endParaRPr lang="en-US" sz="1500" dirty="0"/>
          </a:p>
        </p:txBody>
      </p:sp>
      <p:sp>
        <p:nvSpPr>
          <p:cNvPr id="9" name="Shape 7"/>
          <p:cNvSpPr/>
          <p:nvPr/>
        </p:nvSpPr>
        <p:spPr>
          <a:xfrm>
            <a:off x="3017520" y="1353312"/>
            <a:ext cx="3108960" cy="0"/>
          </a:xfrm>
          <a:prstGeom prst="line">
            <a:avLst/>
          </a:prstGeom>
          <a:noFill/>
          <a:ln w="19050">
            <a:solidFill>
              <a:srgbClr val="1F1B2E"/>
            </a:solidFill>
            <a:prstDash val="solid"/>
            <a:tailEnd type="triangle"/>
          </a:ln>
        </p:spPr>
      </p:sp>
      <p:sp>
        <p:nvSpPr>
          <p:cNvPr id="10" name="Shape 8"/>
          <p:cNvSpPr/>
          <p:nvPr/>
        </p:nvSpPr>
        <p:spPr>
          <a:xfrm>
            <a:off x="3017520" y="1627632"/>
            <a:ext cx="3108960" cy="0"/>
          </a:xfrm>
          <a:prstGeom prst="line">
            <a:avLst/>
          </a:prstGeom>
          <a:noFill/>
          <a:ln w="19050">
            <a:solidFill>
              <a:srgbClr val="1F1B2E"/>
            </a:solidFill>
            <a:prstDash val="solid"/>
            <a:headEnd type="triangle"/>
          </a:ln>
        </p:spPr>
      </p:sp>
      <p:sp>
        <p:nvSpPr>
          <p:cNvPr id="11" name="Text 9"/>
          <p:cNvSpPr txBox="1"/>
          <p:nvPr/>
        </p:nvSpPr>
        <p:spPr>
          <a:xfrm>
            <a:off x="3017520" y="1024128"/>
            <a:ext cx="3108960" cy="274320"/>
          </a:xfrm>
          <a:prstGeom prst="rect">
            <a:avLst/>
          </a:prstGeom>
          <a:noFill/>
          <a:ln/>
        </p:spPr>
        <p:txBody>
          <a:bodyPr wrap="square" lIns="0" tIns="0" rIns="0" bIns="0" rtlCol="0" anchor="t"/>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codec PDUs</a:t>
            </a:r>
            <a:endParaRPr lang="en-US" sz="1200" dirty="0"/>
          </a:p>
        </p:txBody>
      </p:sp>
      <p:sp>
        <p:nvSpPr>
          <p:cNvPr id="12" name="Text 10"/>
          <p:cNvSpPr txBox="1"/>
          <p:nvPr/>
        </p:nvSpPr>
        <p:spPr>
          <a:xfrm>
            <a:off x="3017520" y="1691640"/>
            <a:ext cx="3108960" cy="274320"/>
          </a:xfrm>
          <a:prstGeom prst="rect">
            <a:avLst/>
          </a:prstGeom>
          <a:noFill/>
          <a:ln/>
        </p:spPr>
        <p:txBody>
          <a:bodyPr wrap="square" lIns="0" tIns="0" rIns="0" bIns="0" rtlCol="0" anchor="t"/>
          <a:lstStyle/>
          <a:p>
            <a:pPr algn="ctr" indent="0" marL="0">
              <a:buNone/>
            </a:pPr>
            <a:r>
              <a:rPr lang="en-US" sz="1200" dirty="0">
                <a:solidFill>
                  <a:schemeClr val="accent4"/>
                </a:solidFill>
              </a:rPr>
              <a:t>over Unix socket · SSH · TLS</a:t>
            </a:r>
            <a:endParaRPr lang="en-US" sz="1200" dirty="0"/>
          </a:p>
        </p:txBody>
      </p:sp>
      <p:sp>
        <p:nvSpPr>
          <p:cNvPr id="13" name="card"/>
          <p:cNvSpPr/>
          <p:nvPr/>
        </p:nvSpPr>
        <p:spPr>
          <a:xfrm>
            <a:off x="411480" y="2331720"/>
            <a:ext cx="4023360" cy="2331720"/>
          </a:xfrm>
          <a:prstGeom prst="roundRect">
            <a:avLst>
              <a:gd name="adj" fmla="val 3922"/>
            </a:avLst>
          </a:prstGeom>
          <a:solidFill>
            <a:schemeClr val="bg2"/>
          </a:solidFill>
          <a:ln w="12700">
            <a:solidFill>
              <a:schemeClr val="bg2"/>
            </a:solidFill>
            <a:prstDash val="solid"/>
          </a:ln>
        </p:spPr>
      </p:sp>
      <p:sp>
        <p:nvSpPr>
          <p:cNvPr id="14" name="iconBg"/>
          <p:cNvSpPr/>
          <p:nvPr/>
        </p:nvSpPr>
        <p:spPr>
          <a:xfrm>
            <a:off x="594360" y="2496312"/>
            <a:ext cx="384048" cy="384048"/>
          </a:xfrm>
          <a:prstGeom prst="ellipse">
            <a:avLst/>
          </a:prstGeom>
          <a:solidFill>
            <a:schemeClr val="accent2"/>
          </a:solidFill>
          <a:ln w="12700">
            <a:solidFill>
              <a:schemeClr val="accent2"/>
            </a:solidFill>
            <a:prstDash val="solid"/>
          </a:ln>
        </p:spPr>
      </p:sp>
      <p:pic>
        <p:nvPicPr>
          <p:cNvPr id="15" name="icon" descr="preencoded.png">    </p:cNvPr>
          <p:cNvPicPr>
            <a:picLocks noChangeAspect="1"/>
          </p:cNvPicPr>
          <p:nvPr/>
        </p:nvPicPr>
        <p:blipFill>
          <a:blip r:embed="rId1"/>
          <a:stretch>
            <a:fillRect/>
          </a:stretch>
        </p:blipFill>
        <p:spPr>
          <a:xfrm>
            <a:off x="678851" y="2580803"/>
            <a:ext cx="215067" cy="215067"/>
          </a:xfrm>
          <a:prstGeom prst="rect">
            <a:avLst/>
          </a:prstGeom>
        </p:spPr>
      </p:pic>
      <p:sp>
        <p:nvSpPr>
          <p:cNvPr id="16" name="Text 13"/>
          <p:cNvSpPr txBox="1"/>
          <p:nvPr/>
        </p:nvSpPr>
        <p:spPr>
          <a:xfrm>
            <a:off x="1097280" y="2514600"/>
            <a:ext cx="3108960" cy="347472"/>
          </a:xfrm>
          <a:prstGeom prst="rect">
            <a:avLst/>
          </a:prstGeom>
          <a:noFill/>
          <a:ln/>
        </p:spPr>
        <p:txBody>
          <a:bodyPr wrap="square" lIns="0" tIns="0" rIns="0" bIns="0" rtlCol="0" anchor="ctr"/>
          <a:lstStyle/>
          <a:p>
            <a:pPr indent="0" marL="0">
              <a:buNone/>
            </a:pPr>
            <a:r>
              <a:rPr lang="en-US" sz="1600" b="1" dirty="0">
                <a:solidFill>
                  <a:schemeClr val="accent2"/>
                </a:solidFill>
              </a:rPr>
              <a:t>Benefits</a:t>
            </a:r>
            <a:endParaRPr lang="en-US" sz="1600" dirty="0"/>
          </a:p>
        </p:txBody>
      </p:sp>
      <p:sp>
        <p:nvSpPr>
          <p:cNvPr id="17" name="Text 14"/>
          <p:cNvSpPr txBox="1"/>
          <p:nvPr/>
        </p:nvSpPr>
        <p:spPr>
          <a:xfrm>
            <a:off x="640080" y="2990088"/>
            <a:ext cx="3611880" cy="1581912"/>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Sessions outlive the GUI</a:t>
            </a:r>
            <a:endParaRPr lang="en-US" sz="1600" dirty="0"/>
          </a:p>
          <a:p>
            <a:pPr marL="342900" indent="-342900">
              <a:spcAft>
                <a:spcPts val="800"/>
              </a:spcAft>
              <a:buSzPct val="100000"/>
              <a:buChar char="•"/>
            </a:pPr>
            <a:r>
              <a:rPr lang="en-US" sz="1600" dirty="0">
                <a:solidFill>
                  <a:schemeClr val="tx1"/>
                </a:solidFill>
              </a:rPr>
              <a:t>TLS domains reconnect after a dropped connection</a:t>
            </a:r>
            <a:endParaRPr lang="en-US" sz="1600" dirty="0"/>
          </a:p>
          <a:p>
            <a:pPr marL="342900" indent="-342900">
              <a:spcAft>
                <a:spcPts val="800"/>
              </a:spcAft>
              <a:buSzPct val="100000"/>
              <a:buChar char="•"/>
            </a:pPr>
            <a:r>
              <a:rPr lang="en-US" sz="1600" dirty="0">
                <a:solidFill>
                  <a:schemeClr val="tx1"/>
                </a:solidFill>
              </a:rPr>
              <a:t>Server needs no fonts or display</a:t>
            </a:r>
            <a:endParaRPr lang="en-US" sz="1600" dirty="0"/>
          </a:p>
        </p:txBody>
      </p:sp>
      <p:sp>
        <p:nvSpPr>
          <p:cNvPr id="18" name="card"/>
          <p:cNvSpPr/>
          <p:nvPr/>
        </p:nvSpPr>
        <p:spPr>
          <a:xfrm>
            <a:off x="4663440" y="2331720"/>
            <a:ext cx="4023360" cy="2331720"/>
          </a:xfrm>
          <a:prstGeom prst="roundRect">
            <a:avLst>
              <a:gd name="adj" fmla="val 3922"/>
            </a:avLst>
          </a:prstGeom>
          <a:solidFill>
            <a:schemeClr val="bg2"/>
          </a:solidFill>
          <a:ln w="12700">
            <a:solidFill>
              <a:schemeClr val="bg2"/>
            </a:solidFill>
            <a:prstDash val="solid"/>
          </a:ln>
        </p:spPr>
      </p:sp>
      <p:sp>
        <p:nvSpPr>
          <p:cNvPr id="19" name="iconBg"/>
          <p:cNvSpPr/>
          <p:nvPr/>
        </p:nvSpPr>
        <p:spPr>
          <a:xfrm>
            <a:off x="4846320" y="2496312"/>
            <a:ext cx="384048" cy="384048"/>
          </a:xfrm>
          <a:prstGeom prst="ellipse">
            <a:avLst/>
          </a:prstGeom>
          <a:solidFill>
            <a:schemeClr val="accent3"/>
          </a:solidFill>
          <a:ln w="12700">
            <a:solidFill>
              <a:schemeClr val="accent3"/>
            </a:solidFill>
            <a:prstDash val="solid"/>
          </a:ln>
        </p:spPr>
      </p:sp>
      <p:pic>
        <p:nvPicPr>
          <p:cNvPr id="20" name="icon" descr="preencoded.png">    </p:cNvPr>
          <p:cNvPicPr>
            <a:picLocks noChangeAspect="1"/>
          </p:cNvPicPr>
          <p:nvPr/>
        </p:nvPicPr>
        <p:blipFill>
          <a:blip r:embed="rId2"/>
          <a:stretch>
            <a:fillRect/>
          </a:stretch>
        </p:blipFill>
        <p:spPr>
          <a:xfrm>
            <a:off x="4930811" y="2580803"/>
            <a:ext cx="215067" cy="215067"/>
          </a:xfrm>
          <a:prstGeom prst="rect">
            <a:avLst/>
          </a:prstGeom>
        </p:spPr>
      </p:pic>
      <p:sp>
        <p:nvSpPr>
          <p:cNvPr id="21" name="Text 17"/>
          <p:cNvSpPr txBox="1"/>
          <p:nvPr/>
        </p:nvSpPr>
        <p:spPr>
          <a:xfrm>
            <a:off x="5349240" y="2514600"/>
            <a:ext cx="3108960" cy="347472"/>
          </a:xfrm>
          <a:prstGeom prst="rect">
            <a:avLst/>
          </a:prstGeom>
          <a:noFill/>
          <a:ln/>
        </p:spPr>
        <p:txBody>
          <a:bodyPr wrap="square" lIns="0" tIns="0" rIns="0" bIns="0" rtlCol="0" anchor="ctr"/>
          <a:lstStyle/>
          <a:p>
            <a:pPr indent="0" marL="0">
              <a:buNone/>
            </a:pPr>
            <a:r>
              <a:rPr lang="en-US" sz="1600" b="1" dirty="0">
                <a:solidFill>
                  <a:schemeClr val="accent3"/>
                </a:solidFill>
              </a:rPr>
              <a:t>Costs</a:t>
            </a:r>
            <a:endParaRPr lang="en-US" sz="1600" dirty="0"/>
          </a:p>
        </p:txBody>
      </p:sp>
      <p:sp>
        <p:nvSpPr>
          <p:cNvPr id="22" name="Text 18"/>
          <p:cNvSpPr txBox="1"/>
          <p:nvPr/>
        </p:nvSpPr>
        <p:spPr>
          <a:xfrm>
            <a:off x="4892040" y="2990088"/>
            <a:ext cx="3611880" cy="1581912"/>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Remote keystrokes are a network round trip; local echo prediction adds complexity</a:t>
            </a:r>
            <a:endParaRPr lang="en-US" sz="1600" dirty="0"/>
          </a:p>
          <a:p>
            <a:pPr marL="342900" indent="-342900">
              <a:spcAft>
                <a:spcPts val="800"/>
              </a:spcAft>
              <a:buSzPct val="100000"/>
              <a:buChar char="•"/>
            </a:pPr>
            <a:r>
              <a:rPr lang="en-US" sz="1600" dirty="0">
                <a:solidFill>
                  <a:schemeClr val="tx1"/>
                </a:solidFill>
              </a:rPr>
              <a:t>SSH domains need a compatible WezTerm on the remote host</a:t>
            </a:r>
            <a:endParaRPr lang="en-US" sz="16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Style 2: implicit invocation (pub-sub)</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§6.2</a:t>
            </a:r>
            <a:endParaRPr lang="en-US" sz="1200" dirty="0"/>
          </a:p>
        </p:txBody>
      </p:sp>
      <p:sp>
        <p:nvSpPr>
          <p:cNvPr id="5" name="Shape 3"/>
          <p:cNvSpPr/>
          <p:nvPr/>
        </p:nvSpPr>
        <p:spPr>
          <a:xfrm>
            <a:off x="548640" y="914400"/>
            <a:ext cx="2194560" cy="960120"/>
          </a:xfrm>
          <a:prstGeom prst="roundRect">
            <a:avLst>
              <a:gd name="adj" fmla="val 9524"/>
            </a:avLst>
          </a:prstGeom>
          <a:solidFill>
            <a:schemeClr val="bg1"/>
          </a:solidFill>
          <a:ln w="25400">
            <a:solidFill>
              <a:schemeClr val="accent2"/>
            </a:solidFill>
            <a:prstDash val="solid"/>
          </a:ln>
        </p:spPr>
      </p:sp>
      <p:sp>
        <p:nvSpPr>
          <p:cNvPr id="6" name="Text 4"/>
          <p:cNvSpPr txBox="1"/>
          <p:nvPr/>
        </p:nvSpPr>
        <p:spPr>
          <a:xfrm>
            <a:off x="640080" y="914400"/>
            <a:ext cx="2011680" cy="960120"/>
          </a:xfrm>
          <a:prstGeom prst="rect">
            <a:avLst/>
          </a:prstGeom>
          <a:noFill/>
          <a:ln/>
        </p:spPr>
        <p:txBody>
          <a:bodyPr wrap="square" lIns="0" tIns="0" rIns="0" bIns="0" rtlCol="0" anchor="ctr"/>
          <a:lstStyle/>
          <a:p>
            <a:pPr algn="ctr" indent="0" marL="0">
              <a:buNone/>
            </a:pPr>
            <a:r>
              <a:rPr lang="en-US" sz="1500" b="1" dirty="0">
                <a:solidFill>
                  <a:schemeClr val="tx2"/>
                </a:solidFill>
              </a:rPr>
              <a:t>Mux</a:t>
            </a:r>
            <a:endParaRPr lang="en-US" sz="1500" dirty="0"/>
          </a:p>
          <a:p>
            <a:pPr algn="ctr" indent="0" marL="0">
              <a:buNone/>
            </a:pPr>
            <a:r>
              <a:rPr lang="en-US" sz="1200" dirty="0">
                <a:solidFill>
                  <a:schemeClr val="accent4"/>
                </a:solidFill>
              </a:rPr>
              <a:t>publisher</a:t>
            </a:r>
            <a:endParaRPr lang="en-US" sz="1500" dirty="0"/>
          </a:p>
        </p:txBody>
      </p:sp>
      <p:sp>
        <p:nvSpPr>
          <p:cNvPr id="7" name="Shape 5"/>
          <p:cNvSpPr/>
          <p:nvPr/>
        </p:nvSpPr>
        <p:spPr>
          <a:xfrm>
            <a:off x="3657600" y="914400"/>
            <a:ext cx="2194560" cy="960120"/>
          </a:xfrm>
          <a:prstGeom prst="roundRect">
            <a:avLst>
              <a:gd name="adj" fmla="val 9524"/>
            </a:avLst>
          </a:prstGeom>
          <a:solidFill>
            <a:schemeClr val="bg1"/>
          </a:solidFill>
          <a:ln w="25400">
            <a:solidFill>
              <a:schemeClr val="accent1"/>
            </a:solidFill>
            <a:prstDash val="solid"/>
          </a:ln>
        </p:spPr>
      </p:sp>
      <p:sp>
        <p:nvSpPr>
          <p:cNvPr id="8" name="Text 6"/>
          <p:cNvSpPr txBox="1"/>
          <p:nvPr/>
        </p:nvSpPr>
        <p:spPr>
          <a:xfrm>
            <a:off x="3749040" y="914400"/>
            <a:ext cx="2011680" cy="960120"/>
          </a:xfrm>
          <a:prstGeom prst="rect">
            <a:avLst/>
          </a:prstGeom>
          <a:noFill/>
          <a:ln/>
        </p:spPr>
        <p:txBody>
          <a:bodyPr wrap="square" lIns="0" tIns="0" rIns="0" bIns="0" rtlCol="0" anchor="ctr"/>
          <a:lstStyle/>
          <a:p>
            <a:pPr algn="ctr" indent="0" marL="0">
              <a:buNone/>
            </a:pPr>
            <a:r>
              <a:rPr lang="en-US" sz="1500" b="1" dirty="0">
                <a:solidFill>
                  <a:schemeClr val="tx2"/>
                </a:solidFill>
              </a:rPr>
              <a:t>GUI</a:t>
            </a:r>
            <a:endParaRPr lang="en-US" sz="1500" dirty="0"/>
          </a:p>
          <a:p>
            <a:pPr algn="ctr" indent="0" marL="0">
              <a:buNone/>
            </a:pPr>
            <a:r>
              <a:rPr lang="en-US" sz="1200" dirty="0">
                <a:solidFill>
                  <a:schemeClr val="accent4"/>
                </a:solidFill>
              </a:rPr>
              <a:t>subscriber</a:t>
            </a:r>
            <a:endParaRPr lang="en-US" sz="1500" dirty="0"/>
          </a:p>
        </p:txBody>
      </p:sp>
      <p:sp>
        <p:nvSpPr>
          <p:cNvPr id="9" name="Shape 7"/>
          <p:cNvSpPr/>
          <p:nvPr/>
        </p:nvSpPr>
        <p:spPr>
          <a:xfrm>
            <a:off x="2788920" y="1261872"/>
            <a:ext cx="822960" cy="0"/>
          </a:xfrm>
          <a:prstGeom prst="line">
            <a:avLst/>
          </a:prstGeom>
          <a:noFill/>
          <a:ln w="31750">
            <a:solidFill>
              <a:srgbClr val="0E9F6E"/>
            </a:solidFill>
            <a:prstDash val="solid"/>
            <a:tailEnd type="triangle"/>
          </a:ln>
        </p:spPr>
      </p:sp>
      <p:sp>
        <p:nvSpPr>
          <p:cNvPr id="10" name="Shape 8"/>
          <p:cNvSpPr/>
          <p:nvPr/>
        </p:nvSpPr>
        <p:spPr>
          <a:xfrm>
            <a:off x="2788920" y="1572768"/>
            <a:ext cx="822960" cy="0"/>
          </a:xfrm>
          <a:prstGeom prst="line">
            <a:avLst/>
          </a:prstGeom>
          <a:noFill/>
          <a:ln w="15240">
            <a:solidFill>
              <a:srgbClr val="1F1B2E"/>
            </a:solidFill>
            <a:prstDash val="dash"/>
            <a:headEnd type="triangle"/>
          </a:ln>
        </p:spPr>
      </p:sp>
      <p:sp>
        <p:nvSpPr>
          <p:cNvPr id="11" name="Text 9"/>
          <p:cNvSpPr txBox="1"/>
          <p:nvPr/>
        </p:nvSpPr>
        <p:spPr>
          <a:xfrm>
            <a:off x="2697480" y="969264"/>
            <a:ext cx="1005840" cy="237744"/>
          </a:xfrm>
          <a:prstGeom prst="rect">
            <a:avLst/>
          </a:prstGeom>
          <a:noFill/>
          <a:ln/>
        </p:spPr>
        <p:txBody>
          <a:bodyPr wrap="square" lIns="0" tIns="0" rIns="0" bIns="0" rtlCol="0" anchor="t"/>
          <a:lstStyle/>
          <a:p>
            <a:pPr algn="ctr" indent="0" marL="0">
              <a:buNone/>
            </a:pPr>
            <a:r>
              <a:rPr lang="en-US" sz="1000" b="1" dirty="0">
                <a:solidFill>
                  <a:schemeClr val="accent2"/>
                </a:solidFill>
                <a:latin typeface="Courier New" pitchFamily="34" charset="0"/>
                <a:ea typeface="Courier New" pitchFamily="34" charset="-122"/>
                <a:cs typeface="Courier New" pitchFamily="34" charset="-120"/>
              </a:rPr>
              <a:t>PaneOutput</a:t>
            </a:r>
            <a:endParaRPr lang="en-US" sz="1000" dirty="0"/>
          </a:p>
        </p:txBody>
      </p:sp>
      <p:sp>
        <p:nvSpPr>
          <p:cNvPr id="12" name="Text 10"/>
          <p:cNvSpPr txBox="1"/>
          <p:nvPr/>
        </p:nvSpPr>
        <p:spPr>
          <a:xfrm>
            <a:off x="2697480" y="1609344"/>
            <a:ext cx="1005840" cy="237744"/>
          </a:xfrm>
          <a:prstGeom prst="rect">
            <a:avLst/>
          </a:prstGeom>
          <a:noFill/>
          <a:ln/>
        </p:spPr>
        <p:txBody>
          <a:bodyPr wrap="square" lIns="0" tIns="0" rIns="0" bIns="0" rtlCol="0" anchor="t"/>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get_lines()</a:t>
            </a:r>
            <a:endParaRPr lang="en-US" sz="1000" dirty="0"/>
          </a:p>
        </p:txBody>
      </p:sp>
      <p:sp>
        <p:nvSpPr>
          <p:cNvPr id="13" name="card"/>
          <p:cNvSpPr/>
          <p:nvPr/>
        </p:nvSpPr>
        <p:spPr>
          <a:xfrm>
            <a:off x="6309360" y="914400"/>
            <a:ext cx="2423160" cy="960120"/>
          </a:xfrm>
          <a:prstGeom prst="roundRect">
            <a:avLst>
              <a:gd name="adj" fmla="val 9524"/>
            </a:avLst>
          </a:prstGeom>
          <a:solidFill>
            <a:schemeClr val="bg2"/>
          </a:solidFill>
          <a:ln w="12700">
            <a:solidFill>
              <a:schemeClr val="bg2"/>
            </a:solidFill>
            <a:prstDash val="solid"/>
          </a:ln>
        </p:spPr>
      </p:sp>
      <p:sp>
        <p:nvSpPr>
          <p:cNvPr id="14" name="Text 12"/>
          <p:cNvSpPr txBox="1"/>
          <p:nvPr/>
        </p:nvSpPr>
        <p:spPr>
          <a:xfrm>
            <a:off x="6446520" y="914400"/>
            <a:ext cx="2194560" cy="960120"/>
          </a:xfrm>
          <a:prstGeom prst="rect">
            <a:avLst/>
          </a:prstGeom>
          <a:noFill/>
          <a:ln/>
        </p:spPr>
        <p:txBody>
          <a:bodyPr wrap="square" lIns="0" tIns="0" rIns="0" bIns="0" rtlCol="0" anchor="ctr"/>
          <a:lstStyle/>
          <a:p>
            <a:pPr indent="0" marL="0">
              <a:buNone/>
            </a:pPr>
            <a:r>
              <a:rPr lang="en-US" sz="1400" b="1" dirty="0">
                <a:solidFill>
                  <a:schemeClr val="tx2"/>
                </a:solidFill>
              </a:rPr>
              <a:t>Same idea in Lua</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wezterm.on(event, fn)</a:t>
            </a:r>
            <a:endParaRPr lang="en-US" sz="1400" dirty="0"/>
          </a:p>
        </p:txBody>
      </p:sp>
      <p:sp>
        <p:nvSpPr>
          <p:cNvPr id="15" name="card"/>
          <p:cNvSpPr/>
          <p:nvPr/>
        </p:nvSpPr>
        <p:spPr>
          <a:xfrm>
            <a:off x="411480" y="2148840"/>
            <a:ext cx="4023360" cy="2560320"/>
          </a:xfrm>
          <a:prstGeom prst="roundRect">
            <a:avLst>
              <a:gd name="adj" fmla="val 3571"/>
            </a:avLst>
          </a:prstGeom>
          <a:solidFill>
            <a:schemeClr val="bg2"/>
          </a:solidFill>
          <a:ln w="12700">
            <a:solidFill>
              <a:schemeClr val="bg2"/>
            </a:solidFill>
            <a:prstDash val="solid"/>
          </a:ln>
        </p:spPr>
      </p:sp>
      <p:sp>
        <p:nvSpPr>
          <p:cNvPr id="16" name="iconBg"/>
          <p:cNvSpPr/>
          <p:nvPr/>
        </p:nvSpPr>
        <p:spPr>
          <a:xfrm>
            <a:off x="594360" y="2313432"/>
            <a:ext cx="384048" cy="384048"/>
          </a:xfrm>
          <a:prstGeom prst="ellipse">
            <a:avLst/>
          </a:prstGeom>
          <a:solidFill>
            <a:schemeClr val="accent2"/>
          </a:solidFill>
          <a:ln w="12700">
            <a:solidFill>
              <a:schemeClr val="accent2"/>
            </a:solidFill>
            <a:prstDash val="solid"/>
          </a:ln>
        </p:spPr>
      </p:sp>
      <p:pic>
        <p:nvPicPr>
          <p:cNvPr id="17" name="icon" descr="preencoded.png">    </p:cNvPr>
          <p:cNvPicPr>
            <a:picLocks noChangeAspect="1"/>
          </p:cNvPicPr>
          <p:nvPr/>
        </p:nvPicPr>
        <p:blipFill>
          <a:blip r:embed="rId1"/>
          <a:stretch>
            <a:fillRect/>
          </a:stretch>
        </p:blipFill>
        <p:spPr>
          <a:xfrm>
            <a:off x="678851" y="2397923"/>
            <a:ext cx="215067" cy="215067"/>
          </a:xfrm>
          <a:prstGeom prst="rect">
            <a:avLst/>
          </a:prstGeom>
        </p:spPr>
      </p:pic>
      <p:sp>
        <p:nvSpPr>
          <p:cNvPr id="18" name="Text 15"/>
          <p:cNvSpPr txBox="1"/>
          <p:nvPr/>
        </p:nvSpPr>
        <p:spPr>
          <a:xfrm>
            <a:off x="1097280" y="2331720"/>
            <a:ext cx="3108960" cy="347472"/>
          </a:xfrm>
          <a:prstGeom prst="rect">
            <a:avLst/>
          </a:prstGeom>
          <a:noFill/>
          <a:ln/>
        </p:spPr>
        <p:txBody>
          <a:bodyPr wrap="square" lIns="0" tIns="0" rIns="0" bIns="0" rtlCol="0" anchor="ctr"/>
          <a:lstStyle/>
          <a:p>
            <a:pPr indent="0" marL="0">
              <a:buNone/>
            </a:pPr>
            <a:r>
              <a:rPr lang="en-US" sz="1600" b="1" dirty="0">
                <a:solidFill>
                  <a:schemeClr val="accent2"/>
                </a:solidFill>
              </a:rPr>
              <a:t>Benefits</a:t>
            </a:r>
            <a:endParaRPr lang="en-US" sz="1600" dirty="0"/>
          </a:p>
        </p:txBody>
      </p:sp>
      <p:sp>
        <p:nvSpPr>
          <p:cNvPr id="19" name="Text 16"/>
          <p:cNvSpPr txBox="1"/>
          <p:nvPr/>
        </p:nvSpPr>
        <p:spPr>
          <a:xfrm>
            <a:off x="640080" y="2807208"/>
            <a:ext cx="3611880" cy="1810512"/>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Mux independent of GUI → headless server</a:t>
            </a:r>
            <a:endParaRPr lang="en-US" sz="1500" dirty="0"/>
          </a:p>
          <a:p>
            <a:pPr marL="342900" indent="-342900">
              <a:spcAft>
                <a:spcPts val="800"/>
              </a:spcAft>
              <a:buSzPct val="100000"/>
              <a:buChar char="•"/>
            </a:pPr>
            <a:r>
              <a:rPr lang="en-US" sz="1500" dirty="0">
                <a:solidFill>
                  <a:schemeClr val="tx1"/>
                </a:solidFill>
              </a:rPr>
              <a:t>No polling: redraw only on change</a:t>
            </a:r>
            <a:endParaRPr lang="en-US" sz="1500" dirty="0"/>
          </a:p>
          <a:p>
            <a:pPr marL="342900" indent="-342900">
              <a:spcAft>
                <a:spcPts val="800"/>
              </a:spcAft>
              <a:buSzPct val="100000"/>
              <a:buChar char="•"/>
            </a:pPr>
            <a:r>
              <a:rPr lang="en-US" sz="1500" dirty="0">
                <a:solidFill>
                  <a:schemeClr val="tx1"/>
                </a:solidFill>
              </a:rPr>
              <a:t>Extend via Lua, no Rust changes</a:t>
            </a:r>
            <a:endParaRPr lang="en-US" sz="1500" dirty="0"/>
          </a:p>
        </p:txBody>
      </p:sp>
      <p:sp>
        <p:nvSpPr>
          <p:cNvPr id="20" name="card"/>
          <p:cNvSpPr/>
          <p:nvPr/>
        </p:nvSpPr>
        <p:spPr>
          <a:xfrm>
            <a:off x="4663440" y="2148840"/>
            <a:ext cx="4023360" cy="2560320"/>
          </a:xfrm>
          <a:prstGeom prst="roundRect">
            <a:avLst>
              <a:gd name="adj" fmla="val 3571"/>
            </a:avLst>
          </a:prstGeom>
          <a:solidFill>
            <a:schemeClr val="bg2"/>
          </a:solidFill>
          <a:ln w="12700">
            <a:solidFill>
              <a:schemeClr val="bg2"/>
            </a:solidFill>
            <a:prstDash val="solid"/>
          </a:ln>
        </p:spPr>
      </p:sp>
      <p:sp>
        <p:nvSpPr>
          <p:cNvPr id="21" name="iconBg"/>
          <p:cNvSpPr/>
          <p:nvPr/>
        </p:nvSpPr>
        <p:spPr>
          <a:xfrm>
            <a:off x="4846320" y="2313432"/>
            <a:ext cx="384048" cy="384048"/>
          </a:xfrm>
          <a:prstGeom prst="ellipse">
            <a:avLst/>
          </a:prstGeom>
          <a:solidFill>
            <a:schemeClr val="accent3"/>
          </a:solidFill>
          <a:ln w="12700">
            <a:solidFill>
              <a:schemeClr val="accent3"/>
            </a:solidFill>
            <a:prstDash val="solid"/>
          </a:ln>
        </p:spPr>
      </p:sp>
      <p:pic>
        <p:nvPicPr>
          <p:cNvPr id="22" name="icon" descr="preencoded.png">    </p:cNvPr>
          <p:cNvPicPr>
            <a:picLocks noChangeAspect="1"/>
          </p:cNvPicPr>
          <p:nvPr/>
        </p:nvPicPr>
        <p:blipFill>
          <a:blip r:embed="rId2"/>
          <a:stretch>
            <a:fillRect/>
          </a:stretch>
        </p:blipFill>
        <p:spPr>
          <a:xfrm>
            <a:off x="4930811" y="2397923"/>
            <a:ext cx="215067" cy="215067"/>
          </a:xfrm>
          <a:prstGeom prst="rect">
            <a:avLst/>
          </a:prstGeom>
        </p:spPr>
      </p:pic>
      <p:sp>
        <p:nvSpPr>
          <p:cNvPr id="23" name="Text 19"/>
          <p:cNvSpPr txBox="1"/>
          <p:nvPr/>
        </p:nvSpPr>
        <p:spPr>
          <a:xfrm>
            <a:off x="5349240" y="2331720"/>
            <a:ext cx="3108960" cy="347472"/>
          </a:xfrm>
          <a:prstGeom prst="rect">
            <a:avLst/>
          </a:prstGeom>
          <a:noFill/>
          <a:ln/>
        </p:spPr>
        <p:txBody>
          <a:bodyPr wrap="square" lIns="0" tIns="0" rIns="0" bIns="0" rtlCol="0" anchor="ctr"/>
          <a:lstStyle/>
          <a:p>
            <a:pPr indent="0" marL="0">
              <a:buNone/>
            </a:pPr>
            <a:r>
              <a:rPr lang="en-US" sz="1600" b="1" dirty="0">
                <a:solidFill>
                  <a:schemeClr val="accent3"/>
                </a:solidFill>
              </a:rPr>
              <a:t>Costs</a:t>
            </a:r>
            <a:endParaRPr lang="en-US" sz="1600" dirty="0"/>
          </a:p>
        </p:txBody>
      </p:sp>
      <p:sp>
        <p:nvSpPr>
          <p:cNvPr id="24" name="Text 20"/>
          <p:cNvSpPr txBox="1"/>
          <p:nvPr/>
        </p:nvSpPr>
        <p:spPr>
          <a:xfrm>
            <a:off x="4892040" y="2807208"/>
            <a:ext cx="3611880" cy="1810512"/>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Control flow harder to trace (needed a new arrow type)</a:t>
            </a:r>
            <a:endParaRPr lang="en-US" sz="1500" dirty="0"/>
          </a:p>
          <a:p>
            <a:pPr marL="342900" indent="-342900">
              <a:spcAft>
                <a:spcPts val="800"/>
              </a:spcAft>
              <a:buSzPct val="100000"/>
              <a:buChar char="•"/>
            </a:pPr>
            <a:r>
              <a:rPr lang="en-US" sz="1500" dirty="0">
                <a:solidFill>
                  <a:schemeClr val="tx1"/>
                </a:solidFill>
              </a:rPr>
              <a:t>A handler returning false skips later ones</a:t>
            </a:r>
            <a:endParaRPr lang="en-US" sz="1500" dirty="0"/>
          </a:p>
          <a:p>
            <a:pPr marL="342900" indent="-342900">
              <a:spcAft>
                <a:spcPts val="800"/>
              </a:spcAft>
              <a:buSzPct val="100000"/>
              <a:buChar char="•"/>
            </a:pPr>
            <a:r>
              <a:rPr lang="en-US" sz="1500" dirty="0">
                <a:solidFill>
                  <a:schemeClr val="tx1"/>
                </a:solidFill>
              </a:rPr>
              <a:t>Reloading the config clears every handler</a:t>
            </a:r>
            <a:endParaRPr lang="en-US" sz="15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Alternatives we discarded</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§7</a:t>
            </a:r>
            <a:endParaRPr lang="en-US" sz="1200" dirty="0"/>
          </a:p>
        </p:txBody>
      </p:sp>
      <p:sp>
        <p:nvSpPr>
          <p:cNvPr id="5" name="card"/>
          <p:cNvSpPr/>
          <p:nvPr/>
        </p:nvSpPr>
        <p:spPr>
          <a:xfrm>
            <a:off x="411480" y="914400"/>
            <a:ext cx="4023360" cy="3154680"/>
          </a:xfrm>
          <a:prstGeom prst="roundRect">
            <a:avLst>
              <a:gd name="adj" fmla="val 2899"/>
            </a:avLst>
          </a:prstGeom>
          <a:solidFill>
            <a:schemeClr val="bg2"/>
          </a:solidFill>
          <a:ln w="12700">
            <a:solidFill>
              <a:schemeClr val="bg2"/>
            </a:solidFill>
            <a:prstDash val="solid"/>
          </a:ln>
        </p:spPr>
      </p:sp>
      <p:sp>
        <p:nvSpPr>
          <p:cNvPr id="6" name="Text 4"/>
          <p:cNvSpPr txBox="1"/>
          <p:nvPr/>
        </p:nvSpPr>
        <p:spPr>
          <a:xfrm>
            <a:off x="640080" y="1024128"/>
            <a:ext cx="2926080" cy="347472"/>
          </a:xfrm>
          <a:prstGeom prst="rect">
            <a:avLst/>
          </a:prstGeom>
          <a:noFill/>
          <a:ln/>
        </p:spPr>
        <p:txBody>
          <a:bodyPr wrap="square" lIns="0" tIns="0" rIns="0" bIns="0" rtlCol="0" anchor="t"/>
          <a:lstStyle/>
          <a:p>
            <a:pPr indent="0" marL="0">
              <a:buNone/>
            </a:pPr>
            <a:r>
              <a:rPr lang="en-US" sz="1800" b="1" dirty="0">
                <a:solidFill>
                  <a:schemeClr val="tx2"/>
                </a:solidFill>
              </a:rPr>
              <a:t>GUI owns all sessions</a:t>
            </a:r>
            <a:endParaRPr lang="en-US" sz="1800" dirty="0"/>
          </a:p>
        </p:txBody>
      </p:sp>
      <p:sp>
        <p:nvSpPr>
          <p:cNvPr id="7" name="Text 5"/>
          <p:cNvSpPr txBox="1"/>
          <p:nvPr/>
        </p:nvSpPr>
        <p:spPr>
          <a:xfrm>
            <a:off x="640080" y="1371600"/>
            <a:ext cx="2926080" cy="256032"/>
          </a:xfrm>
          <a:prstGeom prst="rect">
            <a:avLst/>
          </a:prstGeom>
          <a:noFill/>
          <a:ln/>
        </p:spPr>
        <p:txBody>
          <a:bodyPr wrap="square" lIns="0" tIns="0" rIns="0" bIns="0" rtlCol="0" anchor="t"/>
          <a:lstStyle/>
          <a:p>
            <a:pPr indent="0" marL="0">
              <a:buNone/>
            </a:pPr>
            <a:r>
              <a:rPr lang="en-US" sz="1200" i="1" dirty="0">
                <a:solidFill>
                  <a:schemeClr val="accent4"/>
                </a:solidFill>
              </a:rPr>
              <a:t>instead of client–server</a:t>
            </a:r>
            <a:endParaRPr lang="en-US" sz="1200" dirty="0"/>
          </a:p>
        </p:txBody>
      </p:sp>
      <p:sp>
        <p:nvSpPr>
          <p:cNvPr id="8" name="Shape 6"/>
          <p:cNvSpPr/>
          <p:nvPr/>
        </p:nvSpPr>
        <p:spPr>
          <a:xfrm>
            <a:off x="3474720" y="1069848"/>
            <a:ext cx="777240" cy="292608"/>
          </a:xfrm>
          <a:prstGeom prst="roundRect">
            <a:avLst>
              <a:gd name="adj" fmla="val 18750"/>
            </a:avLst>
          </a:prstGeom>
          <a:solidFill>
            <a:schemeClr val="accent3"/>
          </a:solidFill>
          <a:ln w="12700">
            <a:solidFill>
              <a:schemeClr val="accent3"/>
            </a:solidFill>
            <a:prstDash val="solid"/>
          </a:ln>
        </p:spPr>
      </p:sp>
      <p:sp>
        <p:nvSpPr>
          <p:cNvPr id="9" name="Text 7"/>
          <p:cNvSpPr txBox="1"/>
          <p:nvPr/>
        </p:nvSpPr>
        <p:spPr>
          <a:xfrm>
            <a:off x="3474720" y="1069848"/>
            <a:ext cx="777240" cy="292608"/>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rejected</a:t>
            </a:r>
            <a:endParaRPr lang="en-US" sz="1000" dirty="0"/>
          </a:p>
        </p:txBody>
      </p:sp>
      <p:sp>
        <p:nvSpPr>
          <p:cNvPr id="10" name="Text 8"/>
          <p:cNvSpPr txBox="1"/>
          <p:nvPr/>
        </p:nvSpPr>
        <p:spPr>
          <a:xfrm>
            <a:off x="640080" y="1737360"/>
            <a:ext cx="3566160" cy="256032"/>
          </a:xfrm>
          <a:prstGeom prst="rect">
            <a:avLst/>
          </a:prstGeom>
          <a:noFill/>
          <a:ln/>
        </p:spPr>
        <p:txBody>
          <a:bodyPr wrap="square" lIns="0" tIns="0" rIns="0" bIns="0" rtlCol="0" anchor="t"/>
          <a:lstStyle/>
          <a:p>
            <a:pPr indent="0" marL="0">
              <a:buNone/>
            </a:pPr>
            <a:r>
              <a:rPr lang="en-US" sz="1300" b="1" dirty="0">
                <a:solidFill>
                  <a:schemeClr val="accent2"/>
                </a:solidFill>
              </a:rPr>
              <a:t>Gains</a:t>
            </a:r>
            <a:endParaRPr lang="en-US" sz="1300" dirty="0"/>
          </a:p>
        </p:txBody>
      </p:sp>
      <p:sp>
        <p:nvSpPr>
          <p:cNvPr id="11" name="Text 9"/>
          <p:cNvSpPr txBox="1"/>
          <p:nvPr/>
        </p:nvSpPr>
        <p:spPr>
          <a:xfrm>
            <a:off x="640080" y="1993392"/>
            <a:ext cx="3611880" cy="566928"/>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Fewer processes</a:t>
            </a:r>
            <a:endParaRPr lang="en-US" sz="1400" dirty="0"/>
          </a:p>
          <a:p>
            <a:pPr marL="342900" indent="-342900">
              <a:spcAft>
                <a:spcPts val="300"/>
              </a:spcAft>
              <a:buSzPct val="100000"/>
              <a:buChar char="•"/>
            </a:pPr>
            <a:r>
              <a:rPr lang="en-US" sz="1400" dirty="0">
                <a:solidFill>
                  <a:schemeClr val="tx1"/>
                </a:solidFill>
              </a:rPr>
              <a:t>No protocol, versioning or proxy panes</a:t>
            </a:r>
            <a:endParaRPr lang="en-US" sz="1400" dirty="0"/>
          </a:p>
        </p:txBody>
      </p:sp>
      <p:sp>
        <p:nvSpPr>
          <p:cNvPr id="12" name="Text 10"/>
          <p:cNvSpPr txBox="1"/>
          <p:nvPr/>
        </p:nvSpPr>
        <p:spPr>
          <a:xfrm>
            <a:off x="640080" y="2606040"/>
            <a:ext cx="3566160" cy="256032"/>
          </a:xfrm>
          <a:prstGeom prst="rect">
            <a:avLst/>
          </a:prstGeom>
          <a:noFill/>
          <a:ln/>
        </p:spPr>
        <p:txBody>
          <a:bodyPr wrap="square" lIns="0" tIns="0" rIns="0" bIns="0" rtlCol="0" anchor="t"/>
          <a:lstStyle/>
          <a:p>
            <a:pPr indent="0" marL="0">
              <a:buNone/>
            </a:pPr>
            <a:r>
              <a:rPr lang="en-US" sz="1300" b="1" dirty="0">
                <a:solidFill>
                  <a:schemeClr val="accent3"/>
                </a:solidFill>
              </a:rPr>
              <a:t>Loses</a:t>
            </a:r>
            <a:endParaRPr lang="en-US" sz="1300" dirty="0"/>
          </a:p>
        </p:txBody>
      </p:sp>
      <p:sp>
        <p:nvSpPr>
          <p:cNvPr id="13" name="Text 11"/>
          <p:cNvSpPr txBox="1"/>
          <p:nvPr/>
        </p:nvSpPr>
        <p:spPr>
          <a:xfrm>
            <a:off x="640080" y="2862072"/>
            <a:ext cx="3611880" cy="11430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Sessions end when the window closes</a:t>
            </a:r>
            <a:endParaRPr lang="en-US" sz="1400" dirty="0"/>
          </a:p>
          <a:p>
            <a:pPr marL="342900" indent="-342900">
              <a:spcAft>
                <a:spcPts val="300"/>
              </a:spcAft>
              <a:buSzPct val="100000"/>
              <a:buChar char="•"/>
            </a:pPr>
            <a:r>
              <a:rPr lang="en-US" sz="1400" dirty="0">
                <a:solidFill>
                  <a:schemeClr val="tx1"/>
                </a:solidFill>
              </a:rPr>
              <a:t>Remote multiplexing much harder</a:t>
            </a:r>
            <a:endParaRPr lang="en-US" sz="1400" dirty="0"/>
          </a:p>
          <a:p>
            <a:pPr marL="342900" indent="-342900">
              <a:spcAft>
                <a:spcPts val="300"/>
              </a:spcAft>
              <a:buSzPct val="100000"/>
              <a:buChar char="•"/>
            </a:pPr>
            <a:r>
              <a:rPr lang="en-US" sz="1400" dirty="0">
                <a:solidFill>
                  <a:schemeClr val="tx1"/>
                </a:solidFill>
              </a:rPr>
              <a:t>Reconnecting (UC2) much harder</a:t>
            </a:r>
            <a:endParaRPr lang="en-US" sz="1400" dirty="0"/>
          </a:p>
        </p:txBody>
      </p:sp>
      <p:sp>
        <p:nvSpPr>
          <p:cNvPr id="14" name="card"/>
          <p:cNvSpPr/>
          <p:nvPr/>
        </p:nvSpPr>
        <p:spPr>
          <a:xfrm>
            <a:off x="4663440" y="914400"/>
            <a:ext cx="4023360" cy="3154680"/>
          </a:xfrm>
          <a:prstGeom prst="roundRect">
            <a:avLst>
              <a:gd name="adj" fmla="val 2899"/>
            </a:avLst>
          </a:prstGeom>
          <a:solidFill>
            <a:schemeClr val="bg2"/>
          </a:solidFill>
          <a:ln w="12700">
            <a:solidFill>
              <a:schemeClr val="bg2"/>
            </a:solidFill>
            <a:prstDash val="solid"/>
          </a:ln>
        </p:spPr>
      </p:sp>
      <p:sp>
        <p:nvSpPr>
          <p:cNvPr id="15" name="Text 13"/>
          <p:cNvSpPr txBox="1"/>
          <p:nvPr/>
        </p:nvSpPr>
        <p:spPr>
          <a:xfrm>
            <a:off x="4892040" y="1024128"/>
            <a:ext cx="2926080" cy="347472"/>
          </a:xfrm>
          <a:prstGeom prst="rect">
            <a:avLst/>
          </a:prstGeom>
          <a:noFill/>
          <a:ln/>
        </p:spPr>
        <p:txBody>
          <a:bodyPr wrap="square" lIns="0" tIns="0" rIns="0" bIns="0" rtlCol="0" anchor="t"/>
          <a:lstStyle/>
          <a:p>
            <a:pPr indent="0" marL="0">
              <a:buNone/>
            </a:pPr>
            <a:r>
              <a:rPr lang="en-US" sz="1800" b="1" dirty="0">
                <a:solidFill>
                  <a:schemeClr val="tx2"/>
                </a:solidFill>
              </a:rPr>
              <a:t>Direct calls or polling</a:t>
            </a:r>
            <a:endParaRPr lang="en-US" sz="1800" dirty="0"/>
          </a:p>
        </p:txBody>
      </p:sp>
      <p:sp>
        <p:nvSpPr>
          <p:cNvPr id="16" name="Text 14"/>
          <p:cNvSpPr txBox="1"/>
          <p:nvPr/>
        </p:nvSpPr>
        <p:spPr>
          <a:xfrm>
            <a:off x="4892040" y="1371600"/>
            <a:ext cx="2926080" cy="256032"/>
          </a:xfrm>
          <a:prstGeom prst="rect">
            <a:avLst/>
          </a:prstGeom>
          <a:noFill/>
          <a:ln/>
        </p:spPr>
        <p:txBody>
          <a:bodyPr wrap="square" lIns="0" tIns="0" rIns="0" bIns="0" rtlCol="0" anchor="t"/>
          <a:lstStyle/>
          <a:p>
            <a:pPr indent="0" marL="0">
              <a:buNone/>
            </a:pPr>
            <a:r>
              <a:rPr lang="en-US" sz="1200" i="1" dirty="0">
                <a:solidFill>
                  <a:schemeClr val="accent4"/>
                </a:solidFill>
              </a:rPr>
              <a:t>instead of pub-sub</a:t>
            </a:r>
            <a:endParaRPr lang="en-US" sz="1200" dirty="0"/>
          </a:p>
        </p:txBody>
      </p:sp>
      <p:sp>
        <p:nvSpPr>
          <p:cNvPr id="17" name="Shape 15"/>
          <p:cNvSpPr/>
          <p:nvPr/>
        </p:nvSpPr>
        <p:spPr>
          <a:xfrm>
            <a:off x="7726680" y="1069848"/>
            <a:ext cx="777240" cy="292608"/>
          </a:xfrm>
          <a:prstGeom prst="roundRect">
            <a:avLst>
              <a:gd name="adj" fmla="val 18750"/>
            </a:avLst>
          </a:prstGeom>
          <a:solidFill>
            <a:schemeClr val="accent3"/>
          </a:solidFill>
          <a:ln w="12700">
            <a:solidFill>
              <a:schemeClr val="accent3"/>
            </a:solidFill>
            <a:prstDash val="solid"/>
          </a:ln>
        </p:spPr>
      </p:sp>
      <p:sp>
        <p:nvSpPr>
          <p:cNvPr id="18" name="Text 16"/>
          <p:cNvSpPr txBox="1"/>
          <p:nvPr/>
        </p:nvSpPr>
        <p:spPr>
          <a:xfrm>
            <a:off x="7726680" y="1069848"/>
            <a:ext cx="777240" cy="292608"/>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rejected</a:t>
            </a:r>
            <a:endParaRPr lang="en-US" sz="1000" dirty="0"/>
          </a:p>
        </p:txBody>
      </p:sp>
      <p:sp>
        <p:nvSpPr>
          <p:cNvPr id="19" name="Text 17"/>
          <p:cNvSpPr txBox="1"/>
          <p:nvPr/>
        </p:nvSpPr>
        <p:spPr>
          <a:xfrm>
            <a:off x="4892040" y="1737360"/>
            <a:ext cx="3566160" cy="256032"/>
          </a:xfrm>
          <a:prstGeom prst="rect">
            <a:avLst/>
          </a:prstGeom>
          <a:noFill/>
          <a:ln/>
        </p:spPr>
        <p:txBody>
          <a:bodyPr wrap="square" lIns="0" tIns="0" rIns="0" bIns="0" rtlCol="0" anchor="t"/>
          <a:lstStyle/>
          <a:p>
            <a:pPr indent="0" marL="0">
              <a:buNone/>
            </a:pPr>
            <a:r>
              <a:rPr lang="en-US" sz="1300" b="1" dirty="0">
                <a:solidFill>
                  <a:schemeClr val="accent2"/>
                </a:solidFill>
              </a:rPr>
              <a:t>Gains</a:t>
            </a:r>
            <a:endParaRPr lang="en-US" sz="1300" dirty="0"/>
          </a:p>
        </p:txBody>
      </p:sp>
      <p:sp>
        <p:nvSpPr>
          <p:cNvPr id="20" name="Text 18"/>
          <p:cNvSpPr txBox="1"/>
          <p:nvPr/>
        </p:nvSpPr>
        <p:spPr>
          <a:xfrm>
            <a:off x="4892040" y="1993392"/>
            <a:ext cx="3611880" cy="566928"/>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Direct calls easy to follow</a:t>
            </a:r>
            <a:endParaRPr lang="en-US" sz="1400" dirty="0"/>
          </a:p>
          <a:p>
            <a:pPr marL="342900" indent="-342900">
              <a:spcAft>
                <a:spcPts val="300"/>
              </a:spcAft>
              <a:buSzPct val="100000"/>
              <a:buChar char="•"/>
            </a:pPr>
            <a:r>
              <a:rPr lang="en-US" sz="1400" dirty="0">
                <a:solidFill>
                  <a:schemeClr val="tx1"/>
                </a:solidFill>
              </a:rPr>
              <a:t>Polling simple to reason about</a:t>
            </a:r>
            <a:endParaRPr lang="en-US" sz="1400" dirty="0"/>
          </a:p>
        </p:txBody>
      </p:sp>
      <p:sp>
        <p:nvSpPr>
          <p:cNvPr id="21" name="Text 19"/>
          <p:cNvSpPr txBox="1"/>
          <p:nvPr/>
        </p:nvSpPr>
        <p:spPr>
          <a:xfrm>
            <a:off x="4892040" y="2606040"/>
            <a:ext cx="3566160" cy="256032"/>
          </a:xfrm>
          <a:prstGeom prst="rect">
            <a:avLst/>
          </a:prstGeom>
          <a:noFill/>
          <a:ln/>
        </p:spPr>
        <p:txBody>
          <a:bodyPr wrap="square" lIns="0" tIns="0" rIns="0" bIns="0" rtlCol="0" anchor="t"/>
          <a:lstStyle/>
          <a:p>
            <a:pPr indent="0" marL="0">
              <a:buNone/>
            </a:pPr>
            <a:r>
              <a:rPr lang="en-US" sz="1300" b="1" dirty="0">
                <a:solidFill>
                  <a:schemeClr val="accent3"/>
                </a:solidFill>
              </a:rPr>
              <a:t>Loses</a:t>
            </a:r>
            <a:endParaRPr lang="en-US" sz="1300" dirty="0"/>
          </a:p>
        </p:txBody>
      </p:sp>
      <p:sp>
        <p:nvSpPr>
          <p:cNvPr id="22" name="Text 20"/>
          <p:cNvSpPr txBox="1"/>
          <p:nvPr/>
        </p:nvSpPr>
        <p:spPr>
          <a:xfrm>
            <a:off x="4892040" y="2862072"/>
            <a:ext cx="3611880" cy="11430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Direct calls couple Mux to renderer: no headless server</a:t>
            </a:r>
            <a:endParaRPr lang="en-US" sz="1400" dirty="0"/>
          </a:p>
          <a:p>
            <a:pPr marL="342900" indent="-342900">
              <a:spcAft>
                <a:spcPts val="300"/>
              </a:spcAft>
              <a:buSzPct val="100000"/>
              <a:buChar char="•"/>
            </a:pPr>
            <a:r>
              <a:rPr lang="en-US" sz="1400" dirty="0">
                <a:solidFill>
                  <a:schemeClr val="tx1"/>
                </a:solidFill>
              </a:rPr>
              <a:t>Polling wastes work and delays redraws</a:t>
            </a:r>
            <a:endParaRPr lang="en-US" sz="1400" dirty="0"/>
          </a:p>
        </p:txBody>
      </p:sp>
      <p:sp>
        <p:nvSpPr>
          <p:cNvPr id="23" name="card"/>
          <p:cNvSpPr/>
          <p:nvPr/>
        </p:nvSpPr>
        <p:spPr>
          <a:xfrm>
            <a:off x="411480" y="4224528"/>
            <a:ext cx="8275320" cy="502920"/>
          </a:xfrm>
          <a:prstGeom prst="roundRect">
            <a:avLst>
              <a:gd name="adj" fmla="val 18182"/>
            </a:avLst>
          </a:prstGeom>
          <a:solidFill>
            <a:schemeClr val="tx2"/>
          </a:solidFill>
          <a:ln w="12700">
            <a:solidFill>
              <a:schemeClr val="tx2"/>
            </a:solidFill>
            <a:prstDash val="solid"/>
          </a:ln>
        </p:spPr>
      </p:sp>
      <p:sp>
        <p:nvSpPr>
          <p:cNvPr id="24" name="Text 22"/>
          <p:cNvSpPr txBox="1"/>
          <p:nvPr/>
        </p:nvSpPr>
        <p:spPr>
          <a:xfrm>
            <a:off x="594360" y="4224528"/>
            <a:ext cx="7955280" cy="502920"/>
          </a:xfrm>
          <a:prstGeom prst="rect">
            <a:avLst/>
          </a:prstGeom>
          <a:noFill/>
          <a:ln/>
        </p:spPr>
        <p:txBody>
          <a:bodyPr wrap="square" lIns="0" tIns="0" rIns="0" bIns="0" rtlCol="0" anchor="ctr"/>
          <a:lstStyle/>
          <a:p>
            <a:pPr indent="0" marL="0">
              <a:buNone/>
            </a:pPr>
            <a:r>
              <a:rPr lang="en-US" sz="1400" b="1" dirty="0">
                <a:solidFill>
                  <a:schemeClr val="bg1"/>
                </a:solidFill>
              </a:rPr>
              <a:t>Verdict: </a:t>
            </a:r>
            <a:pPr indent="0" marL="0">
              <a:buNone/>
            </a:pPr>
            <a:r>
              <a:rPr lang="en-US" sz="1400" dirty="0">
                <a:solidFill>
                  <a:schemeClr val="bg1"/>
                </a:solidFill>
              </a:rPr>
              <a:t>each would simplify one part but give up a benefit of the chosen styles</a:t>
            </a:r>
            <a:endParaRPr lang="en-US" sz="14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Limitations and lessons learned</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§9</a:t>
            </a:r>
            <a:endParaRPr lang="en-US" sz="1200" dirty="0"/>
          </a:p>
        </p:txBody>
      </p:sp>
      <p:sp>
        <p:nvSpPr>
          <p:cNvPr id="5" name="card"/>
          <p:cNvSpPr/>
          <p:nvPr/>
        </p:nvSpPr>
        <p:spPr>
          <a:xfrm>
            <a:off x="411480" y="914400"/>
            <a:ext cx="4023360" cy="3794760"/>
          </a:xfrm>
          <a:prstGeom prst="roundRect">
            <a:avLst>
              <a:gd name="adj" fmla="val 2410"/>
            </a:avLst>
          </a:prstGeom>
          <a:solidFill>
            <a:schemeClr val="bg2"/>
          </a:solidFill>
          <a:ln w="12700">
            <a:solidFill>
              <a:schemeClr val="bg2"/>
            </a:solidFill>
            <a:prstDash val="solid"/>
          </a:ln>
        </p:spPr>
      </p:sp>
      <p:sp>
        <p:nvSpPr>
          <p:cNvPr id="6" name="iconBg"/>
          <p:cNvSpPr/>
          <p:nvPr/>
        </p:nvSpPr>
        <p:spPr>
          <a:xfrm>
            <a:off x="594360" y="1078992"/>
            <a:ext cx="411480" cy="411480"/>
          </a:xfrm>
          <a:prstGeom prst="ellipse">
            <a:avLst/>
          </a:prstGeom>
          <a:solidFill>
            <a:schemeClr val="accent3"/>
          </a:solidFill>
          <a:ln w="12700">
            <a:solidFill>
              <a:schemeClr val="accent3"/>
            </a:solidFill>
            <a:prstDash val="solid"/>
          </a:ln>
        </p:spPr>
      </p:sp>
      <p:pic>
        <p:nvPicPr>
          <p:cNvPr id="7" name="icon" descr="preencoded.png">    </p:cNvPr>
          <p:cNvPicPr>
            <a:picLocks noChangeAspect="1"/>
          </p:cNvPicPr>
          <p:nvPr/>
        </p:nvPicPr>
        <p:blipFill>
          <a:blip r:embed="rId1"/>
          <a:stretch>
            <a:fillRect/>
          </a:stretch>
        </p:blipFill>
        <p:spPr>
          <a:xfrm>
            <a:off x="684886" y="1169518"/>
            <a:ext cx="230429" cy="230429"/>
          </a:xfrm>
          <a:prstGeom prst="rect">
            <a:avLst/>
          </a:prstGeom>
        </p:spPr>
      </p:pic>
      <p:sp>
        <p:nvSpPr>
          <p:cNvPr id="8" name="Text 5"/>
          <p:cNvSpPr txBox="1"/>
          <p:nvPr/>
        </p:nvSpPr>
        <p:spPr>
          <a:xfrm>
            <a:off x="1124712" y="1097280"/>
            <a:ext cx="3108960" cy="365760"/>
          </a:xfrm>
          <a:prstGeom prst="rect">
            <a:avLst/>
          </a:prstGeom>
          <a:noFill/>
          <a:ln/>
        </p:spPr>
        <p:txBody>
          <a:bodyPr wrap="square" lIns="0" tIns="0" rIns="0" bIns="0" rtlCol="0" anchor="ctr"/>
          <a:lstStyle/>
          <a:p>
            <a:pPr indent="0" marL="0">
              <a:buNone/>
            </a:pPr>
            <a:r>
              <a:rPr lang="en-US" sz="1800" b="1" dirty="0">
                <a:solidFill>
                  <a:schemeClr val="accent3"/>
                </a:solidFill>
              </a:rPr>
              <a:t>Limitations</a:t>
            </a:r>
            <a:endParaRPr lang="en-US" sz="1800" dirty="0"/>
          </a:p>
        </p:txBody>
      </p:sp>
      <p:sp>
        <p:nvSpPr>
          <p:cNvPr id="9" name="Text 6"/>
          <p:cNvSpPr txBox="1"/>
          <p:nvPr/>
        </p:nvSpPr>
        <p:spPr>
          <a:xfrm>
            <a:off x="640080" y="1691640"/>
            <a:ext cx="3611880" cy="288036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Derived from docs and crate layout, not verified source; A2's reflexion analysis will test it</a:t>
            </a:r>
            <a:endParaRPr lang="en-US" sz="1500" dirty="0"/>
          </a:p>
          <a:p>
            <a:pPr marL="342900" indent="-342900">
              <a:spcAft>
                <a:spcPts val="1200"/>
              </a:spcAft>
              <a:buSzPct val="100000"/>
              <a:buChar char="•"/>
            </a:pPr>
            <a:r>
              <a:rPr lang="en-US" sz="1500" dirty="0">
                <a:solidFill>
                  <a:schemeClr val="tx1"/>
                </a:solidFill>
              </a:rPr>
              <a:t>Two use cases leave paths untraced (SSH setup, config reload)</a:t>
            </a:r>
            <a:endParaRPr lang="en-US" sz="1500" dirty="0"/>
          </a:p>
          <a:p>
            <a:pPr marL="342900" indent="-342900">
              <a:spcAft>
                <a:spcPts val="1200"/>
              </a:spcAft>
              <a:buSzPct val="100000"/>
              <a:buChar char="•"/>
            </a:pPr>
            <a:r>
              <a:rPr lang="en-US" sz="1500" dirty="0">
                <a:solidFill>
                  <a:schemeClr val="tx1"/>
                </a:solidFill>
              </a:rPr>
              <a:t>AI share (~15%) is an estimate from phase weights, not measured</a:t>
            </a:r>
            <a:endParaRPr lang="en-US" sz="1500" dirty="0"/>
          </a:p>
        </p:txBody>
      </p:sp>
      <p:sp>
        <p:nvSpPr>
          <p:cNvPr id="10" name="card"/>
          <p:cNvSpPr/>
          <p:nvPr/>
        </p:nvSpPr>
        <p:spPr>
          <a:xfrm>
            <a:off x="4663440" y="914400"/>
            <a:ext cx="4023360" cy="3794760"/>
          </a:xfrm>
          <a:prstGeom prst="roundRect">
            <a:avLst>
              <a:gd name="adj" fmla="val 2410"/>
            </a:avLst>
          </a:prstGeom>
          <a:solidFill>
            <a:schemeClr val="bg2"/>
          </a:solidFill>
          <a:ln w="12700">
            <a:solidFill>
              <a:schemeClr val="bg2"/>
            </a:solidFill>
            <a:prstDash val="solid"/>
          </a:ln>
        </p:spPr>
      </p:sp>
      <p:sp>
        <p:nvSpPr>
          <p:cNvPr id="11" name="iconBg"/>
          <p:cNvSpPr/>
          <p:nvPr/>
        </p:nvSpPr>
        <p:spPr>
          <a:xfrm>
            <a:off x="4846320" y="1078992"/>
            <a:ext cx="411480" cy="41148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2"/>
          <a:stretch>
            <a:fillRect/>
          </a:stretch>
        </p:blipFill>
        <p:spPr>
          <a:xfrm>
            <a:off x="4936846" y="1169518"/>
            <a:ext cx="230429" cy="230429"/>
          </a:xfrm>
          <a:prstGeom prst="rect">
            <a:avLst/>
          </a:prstGeom>
        </p:spPr>
      </p:pic>
      <p:sp>
        <p:nvSpPr>
          <p:cNvPr id="13" name="Text 9"/>
          <p:cNvSpPr txBox="1"/>
          <p:nvPr/>
        </p:nvSpPr>
        <p:spPr>
          <a:xfrm>
            <a:off x="5376672" y="1097280"/>
            <a:ext cx="3108960" cy="365760"/>
          </a:xfrm>
          <a:prstGeom prst="rect">
            <a:avLst/>
          </a:prstGeom>
          <a:noFill/>
          <a:ln/>
        </p:spPr>
        <p:txBody>
          <a:bodyPr wrap="square" lIns="0" tIns="0" rIns="0" bIns="0" rtlCol="0" anchor="ctr"/>
          <a:lstStyle/>
          <a:p>
            <a:pPr indent="0" marL="0">
              <a:buNone/>
            </a:pPr>
            <a:r>
              <a:rPr lang="en-US" sz="1800" b="1" dirty="0">
                <a:solidFill>
                  <a:schemeClr val="accent2"/>
                </a:solidFill>
              </a:rPr>
              <a:t>Lessons learned</a:t>
            </a:r>
            <a:endParaRPr lang="en-US" sz="1800" dirty="0"/>
          </a:p>
        </p:txBody>
      </p:sp>
      <p:sp>
        <p:nvSpPr>
          <p:cNvPr id="14" name="Text 10"/>
          <p:cNvSpPr txBox="1"/>
          <p:nvPr/>
        </p:nvSpPr>
        <p:spPr>
          <a:xfrm>
            <a:off x="4892040" y="1691640"/>
            <a:ext cx="3611880" cy="288036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Trace behaviour first: our early §3 text had the GUI polling until the UC1 diagram showed the notification</a:t>
            </a:r>
            <a:endParaRPr lang="en-US" sz="1500" dirty="0"/>
          </a:p>
          <a:p>
            <a:pPr marL="342900" indent="-342900">
              <a:spcAft>
                <a:spcPts val="1200"/>
              </a:spcAft>
              <a:buSzPct val="100000"/>
              <a:buChar char="•"/>
            </a:pPr>
            <a:r>
              <a:rPr lang="en-US" sz="1500" dirty="0">
                <a:solidFill>
                  <a:schemeClr val="tx1"/>
                </a:solidFill>
              </a:rPr>
              <a:t>Small diagram changes ripple: step numbers are shared references</a:t>
            </a:r>
            <a:endParaRPr lang="en-US" sz="1500" dirty="0"/>
          </a:p>
          <a:p>
            <a:pPr marL="342900" indent="-342900">
              <a:spcAft>
                <a:spcPts val="1200"/>
              </a:spcAft>
              <a:buSzPct val="100000"/>
              <a:buChar char="•"/>
            </a:pPr>
            <a:r>
              <a:rPr lang="en-US" sz="1500" dirty="0">
                <a:solidFill>
                  <a:schemeClr val="tx1"/>
                </a:solidFill>
              </a:rPr>
              <a:t>Crates ≠ architecture: group by responsibility, not folder</a:t>
            </a:r>
            <a:endParaRPr lang="en-US" sz="1500" dirty="0"/>
          </a:p>
          <a:p>
            <a:pPr marL="342900" indent="-342900">
              <a:spcAft>
                <a:spcPts val="1200"/>
              </a:spcAft>
              <a:buSzPct val="100000"/>
              <a:buChar char="•"/>
            </a:pPr>
            <a:r>
              <a:rPr lang="en-US" sz="1500" dirty="0">
                <a:solidFill>
                  <a:schemeClr val="tx1"/>
                </a:solidFill>
              </a:rPr>
              <a:t>Six writers need one vocabulary, taken from the final diagram</a:t>
            </a:r>
            <a:endParaRPr lang="en-US" sz="15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7406640" cy="548640"/>
          </a:xfrm>
          <a:prstGeom prst="rect">
            <a:avLst/>
          </a:prstGeom>
          <a:noFill/>
          <a:ln/>
        </p:spPr>
        <p:txBody>
          <a:bodyPr wrap="square" lIns="0" tIns="0" rIns="0" bIns="0" rtlCol="0" anchor="ctr"/>
          <a:lstStyle/>
          <a:p>
            <a:pPr algn="l" indent="0" marL="0">
              <a:buNone/>
            </a:pPr>
            <a:r>
              <a:rPr lang="en-US" sz="2600" b="1" dirty="0">
                <a:solidFill>
                  <a:schemeClr val="tx2"/>
                </a:solidFill>
                <a:latin typeface="Arial" pitchFamily="34" charset="0"/>
                <a:ea typeface="Arial" pitchFamily="34" charset="-122"/>
                <a:cs typeface="Arial" pitchFamily="34" charset="-120"/>
              </a:rPr>
              <a:t>Our AI teammate</a:t>
            </a:r>
            <a:endParaRPr lang="en-US" sz="2600" dirty="0"/>
          </a:p>
        </p:txBody>
      </p:sp>
      <p:sp>
        <p:nvSpPr>
          <p:cNvPr id="3" name="tag"/>
          <p:cNvSpPr/>
          <p:nvPr/>
        </p:nvSpPr>
        <p:spPr>
          <a:xfrm>
            <a:off x="7909560" y="274320"/>
            <a:ext cx="822960" cy="347472"/>
          </a:xfrm>
          <a:prstGeom prst="roundRect">
            <a:avLst>
              <a:gd name="adj" fmla="val 21053"/>
            </a:avLst>
          </a:prstGeom>
          <a:solidFill>
            <a:schemeClr val="accent2"/>
          </a:solidFill>
          <a:ln w="12700">
            <a:solidFill>
              <a:schemeClr val="accent2"/>
            </a:solidFill>
            <a:prstDash val="solid"/>
          </a:ln>
        </p:spPr>
      </p:sp>
      <p:sp>
        <p:nvSpPr>
          <p:cNvPr id="4" name="tagText"/>
          <p:cNvSpPr txBox="1"/>
          <p:nvPr/>
        </p:nvSpPr>
        <p:spPr>
          <a:xfrm>
            <a:off x="7909560" y="27432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App. D</a:t>
            </a:r>
            <a:endParaRPr lang="en-US" sz="1200" dirty="0"/>
          </a:p>
        </p:txBody>
      </p:sp>
      <p:sp>
        <p:nvSpPr>
          <p:cNvPr id="5" name="Text 3"/>
          <p:cNvSpPr txBox="1"/>
          <p:nvPr/>
        </p:nvSpPr>
        <p:spPr>
          <a:xfrm>
            <a:off x="411480" y="841248"/>
            <a:ext cx="1737360" cy="685800"/>
          </a:xfrm>
          <a:prstGeom prst="rect">
            <a:avLst/>
          </a:prstGeom>
          <a:noFill/>
          <a:ln/>
        </p:spPr>
        <p:txBody>
          <a:bodyPr wrap="square" lIns="0" tIns="0" rIns="0" bIns="0" rtlCol="0" anchor="ctr"/>
          <a:lstStyle/>
          <a:p>
            <a:pPr indent="0" marL="0">
              <a:buNone/>
            </a:pPr>
            <a:r>
              <a:rPr lang="en-US" sz="4800" b="1" dirty="0">
                <a:solidFill>
                  <a:schemeClr val="accent1"/>
                </a:solidFill>
              </a:rPr>
              <a:t>~15%</a:t>
            </a:r>
            <a:endParaRPr lang="en-US" sz="4800" dirty="0"/>
          </a:p>
        </p:txBody>
      </p:sp>
      <p:sp>
        <p:nvSpPr>
          <p:cNvPr id="6" name="Text 4"/>
          <p:cNvSpPr txBox="1"/>
          <p:nvPr/>
        </p:nvSpPr>
        <p:spPr>
          <a:xfrm>
            <a:off x="2148840" y="914400"/>
            <a:ext cx="1600200" cy="548640"/>
          </a:xfrm>
          <a:prstGeom prst="rect">
            <a:avLst/>
          </a:prstGeom>
          <a:noFill/>
          <a:ln/>
        </p:spPr>
        <p:txBody>
          <a:bodyPr wrap="square" lIns="0" tIns="0" rIns="0" bIns="0" rtlCol="0" anchor="ctr"/>
          <a:lstStyle/>
          <a:p>
            <a:pPr indent="0" marL="0">
              <a:buNone/>
            </a:pPr>
            <a:r>
              <a:rPr lang="en-US" sz="1200" dirty="0">
                <a:solidFill>
                  <a:schemeClr val="accent4"/>
                </a:solidFill>
              </a:rPr>
              <a:t>about 1/7 of the project, or slightly higher</a:t>
            </a:r>
            <a:endParaRPr lang="en-US" sz="1200" dirty="0"/>
          </a:p>
        </p:txBody>
      </p:sp>
      <p:graphicFrame>
        <p:nvGraphicFramePr>
          <p:cNvPr id="7" name="Chart 0" descr=""/>
          <p:cNvGraphicFramePr/>
          <p:nvPr/>
        </p:nvGraphicFramePr>
        <p:xfrm>
          <a:off x="320040" y="1554480"/>
          <a:ext cx="3474720" cy="1828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11480" y="3429000"/>
            <a:ext cx="3337560" cy="274320"/>
          </a:xfrm>
          <a:prstGeom prst="rect">
            <a:avLst/>
          </a:prstGeom>
          <a:noFill/>
          <a:ln/>
        </p:spPr>
        <p:txBody>
          <a:bodyPr wrap="square" lIns="0" tIns="0" rIns="0" bIns="0" rtlCol="0" anchor="t"/>
          <a:lstStyle/>
          <a:p>
            <a:pPr indent="0" marL="0">
              <a:buNone/>
            </a:pPr>
            <a:r>
              <a:rPr lang="en-US" sz="1100" b="1" dirty="0">
                <a:solidFill>
                  <a:schemeClr val="tx2"/>
                </a:solidFill>
                <a:latin typeface="Courier New" pitchFamily="34" charset="0"/>
                <a:ea typeface="Courier New" pitchFamily="34" charset="-122"/>
                <a:cs typeface="Courier New" pitchFamily="34" charset="-120"/>
              </a:rPr>
              <a:t>0.3×25% + 0.5×5% + 0.2×30% ≈ 16%</a:t>
            </a:r>
            <a:endParaRPr lang="en-US" sz="1100" dirty="0"/>
          </a:p>
        </p:txBody>
      </p:sp>
      <p:sp>
        <p:nvSpPr>
          <p:cNvPr id="9" name="card"/>
          <p:cNvSpPr/>
          <p:nvPr/>
        </p:nvSpPr>
        <p:spPr>
          <a:xfrm>
            <a:off x="411480" y="3840480"/>
            <a:ext cx="3337560" cy="868680"/>
          </a:xfrm>
          <a:prstGeom prst="roundRect">
            <a:avLst>
              <a:gd name="adj" fmla="val 10526"/>
            </a:avLst>
          </a:prstGeom>
          <a:solidFill>
            <a:schemeClr val="bg2"/>
          </a:solidFill>
          <a:ln w="12700">
            <a:solidFill>
              <a:schemeClr val="bg2"/>
            </a:solidFill>
            <a:prstDash val="solid"/>
          </a:ln>
        </p:spPr>
      </p:sp>
      <p:sp>
        <p:nvSpPr>
          <p:cNvPr id="10" name="Text 7"/>
          <p:cNvSpPr txBox="1"/>
          <p:nvPr/>
        </p:nvSpPr>
        <p:spPr>
          <a:xfrm>
            <a:off x="548640" y="3840480"/>
            <a:ext cx="3108960" cy="868680"/>
          </a:xfrm>
          <a:prstGeom prst="rect">
            <a:avLst/>
          </a:prstGeom>
          <a:noFill/>
          <a:ln/>
        </p:spPr>
        <p:txBody>
          <a:bodyPr wrap="square" lIns="0" tIns="0" rIns="0" bIns="0" rtlCol="0" anchor="ctr"/>
          <a:lstStyle/>
          <a:p>
            <a:pPr indent="0" marL="0">
              <a:buNone/>
            </a:pPr>
            <a:r>
              <a:rPr lang="en-US" sz="1300" b="1" dirty="0">
                <a:solidFill>
                  <a:schemeClr val="tx2"/>
                </a:solidFill>
              </a:rPr>
              <a:t>Humans ~85%, </a:t>
            </a:r>
            <a:pPr indent="0" marL="0">
              <a:buNone/>
            </a:pPr>
            <a:r>
              <a:rPr lang="en-US" sz="1300" dirty="0">
                <a:solidFill>
                  <a:schemeClr val="tx1"/>
                </a:solidFill>
              </a:rPr>
              <a:t>shared evenly across six members. The AI made no architecture decisions.</a:t>
            </a:r>
            <a:endParaRPr lang="en-US" sz="1300" dirty="0"/>
          </a:p>
        </p:txBody>
      </p:sp>
      <p:sp>
        <p:nvSpPr>
          <p:cNvPr id="11" name="iconBg"/>
          <p:cNvSpPr/>
          <p:nvPr/>
        </p:nvSpPr>
        <p:spPr>
          <a:xfrm>
            <a:off x="4069080" y="941832"/>
            <a:ext cx="411480" cy="411480"/>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2"/>
          <a:stretch>
            <a:fillRect/>
          </a:stretch>
        </p:blipFill>
        <p:spPr>
          <a:xfrm>
            <a:off x="4159606" y="1032358"/>
            <a:ext cx="230429" cy="230429"/>
          </a:xfrm>
          <a:prstGeom prst="rect">
            <a:avLst/>
          </a:prstGeom>
        </p:spPr>
      </p:pic>
      <p:sp>
        <p:nvSpPr>
          <p:cNvPr id="13" name="Text 9"/>
          <p:cNvSpPr txBox="1"/>
          <p:nvPr/>
        </p:nvSpPr>
        <p:spPr>
          <a:xfrm>
            <a:off x="4617720" y="896112"/>
            <a:ext cx="4114800" cy="274320"/>
          </a:xfrm>
          <a:prstGeom prst="rect">
            <a:avLst/>
          </a:prstGeom>
          <a:noFill/>
          <a:ln/>
        </p:spPr>
        <p:txBody>
          <a:bodyPr wrap="square" lIns="0" tIns="0" rIns="0" bIns="0" rtlCol="0" anchor="t"/>
          <a:lstStyle/>
          <a:p>
            <a:pPr indent="0" marL="0">
              <a:buNone/>
            </a:pPr>
            <a:r>
              <a:rPr lang="en-US" sz="1500" b="1" dirty="0">
                <a:solidFill>
                  <a:schemeClr val="tx2"/>
                </a:solidFill>
              </a:rPr>
              <a:t>Selection</a:t>
            </a:r>
            <a:endParaRPr lang="en-US" sz="1500" dirty="0"/>
          </a:p>
        </p:txBody>
      </p:sp>
      <p:sp>
        <p:nvSpPr>
          <p:cNvPr id="14" name="Text 10"/>
          <p:cNvSpPr txBox="1"/>
          <p:nvPr/>
        </p:nvSpPr>
        <p:spPr>
          <a:xfrm>
            <a:off x="4617720" y="1170432"/>
            <a:ext cx="4114800" cy="594360"/>
          </a:xfrm>
          <a:prstGeom prst="rect">
            <a:avLst/>
          </a:prstGeom>
          <a:noFill/>
          <a:ln/>
        </p:spPr>
        <p:txBody>
          <a:bodyPr wrap="square" lIns="0" tIns="0" rIns="0" bIns="0" rtlCol="0" anchor="t"/>
          <a:lstStyle/>
          <a:p>
            <a:pPr indent="0" marL="0">
              <a:buNone/>
            </a:pPr>
            <a:r>
              <a:rPr lang="en-US" sz="1300" dirty="0">
                <a:solidFill>
                  <a:schemeClr val="tx1"/>
                </a:solidFill>
              </a:rPr>
              <a:t>Claude Opus 5.5 (5 members): long inputs, code structure, images · ChatGPT (Rahul): explanation, brainstorming</a:t>
            </a:r>
            <a:endParaRPr lang="en-US" sz="1300" dirty="0"/>
          </a:p>
        </p:txBody>
      </p:sp>
      <p:sp>
        <p:nvSpPr>
          <p:cNvPr id="15" name="iconBg"/>
          <p:cNvSpPr/>
          <p:nvPr/>
        </p:nvSpPr>
        <p:spPr>
          <a:xfrm>
            <a:off x="4069080" y="1911096"/>
            <a:ext cx="411480" cy="41148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3"/>
          <a:stretch>
            <a:fillRect/>
          </a:stretch>
        </p:blipFill>
        <p:spPr>
          <a:xfrm>
            <a:off x="4159606" y="2001622"/>
            <a:ext cx="230429" cy="230429"/>
          </a:xfrm>
          <a:prstGeom prst="rect">
            <a:avLst/>
          </a:prstGeom>
        </p:spPr>
      </p:pic>
      <p:sp>
        <p:nvSpPr>
          <p:cNvPr id="17" name="Text 12"/>
          <p:cNvSpPr txBox="1"/>
          <p:nvPr/>
        </p:nvSpPr>
        <p:spPr>
          <a:xfrm>
            <a:off x="4617720" y="1865376"/>
            <a:ext cx="4114800" cy="274320"/>
          </a:xfrm>
          <a:prstGeom prst="rect">
            <a:avLst/>
          </a:prstGeom>
          <a:noFill/>
          <a:ln/>
        </p:spPr>
        <p:txBody>
          <a:bodyPr wrap="square" lIns="0" tIns="0" rIns="0" bIns="0" rtlCol="0" anchor="t"/>
          <a:lstStyle/>
          <a:p>
            <a:pPr indent="0" marL="0">
              <a:buNone/>
            </a:pPr>
            <a:r>
              <a:rPr lang="en-US" sz="1500" b="1" dirty="0">
                <a:solidFill>
                  <a:schemeClr val="tx2"/>
                </a:solidFill>
              </a:rPr>
              <a:t>Tasks</a:t>
            </a:r>
            <a:endParaRPr lang="en-US" sz="1500" dirty="0"/>
          </a:p>
        </p:txBody>
      </p:sp>
      <p:sp>
        <p:nvSpPr>
          <p:cNvPr id="18" name="Text 13"/>
          <p:cNvSpPr txBox="1"/>
          <p:nvPr/>
        </p:nvSpPr>
        <p:spPr>
          <a:xfrm>
            <a:off x="4617720" y="2139696"/>
            <a:ext cx="4114800" cy="594360"/>
          </a:xfrm>
          <a:prstGeom prst="rect">
            <a:avLst/>
          </a:prstGeom>
          <a:noFill/>
          <a:ln/>
        </p:spPr>
        <p:txBody>
          <a:bodyPr wrap="square" lIns="0" tIns="0" rIns="0" bIns="0" rtlCol="0" anchor="t"/>
          <a:lstStyle/>
          <a:p>
            <a:pPr indent="0" marL="0">
              <a:buNone/>
            </a:pPr>
            <a:r>
              <a:rPr lang="en-US" sz="1300" dirty="0">
                <a:solidFill>
                  <a:schemeClr val="tx1"/>
                </a:solidFill>
              </a:rPr>
              <a:t>Explain subsystems · check diagrams vs write-ups · revise to final diagrams · find merge inconsistencies</a:t>
            </a:r>
            <a:endParaRPr lang="en-US" sz="1300" dirty="0"/>
          </a:p>
        </p:txBody>
      </p:sp>
      <p:sp>
        <p:nvSpPr>
          <p:cNvPr id="19" name="iconBg"/>
          <p:cNvSpPr/>
          <p:nvPr/>
        </p:nvSpPr>
        <p:spPr>
          <a:xfrm>
            <a:off x="4069080" y="2880360"/>
            <a:ext cx="411480" cy="41148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4159606" y="2970886"/>
            <a:ext cx="230429" cy="230429"/>
          </a:xfrm>
          <a:prstGeom prst="rect">
            <a:avLst/>
          </a:prstGeom>
        </p:spPr>
      </p:pic>
      <p:sp>
        <p:nvSpPr>
          <p:cNvPr id="21" name="Text 15"/>
          <p:cNvSpPr txBox="1"/>
          <p:nvPr/>
        </p:nvSpPr>
        <p:spPr>
          <a:xfrm>
            <a:off x="4617720" y="2834640"/>
            <a:ext cx="4114800" cy="274320"/>
          </a:xfrm>
          <a:prstGeom prst="rect">
            <a:avLst/>
          </a:prstGeom>
          <a:noFill/>
          <a:ln/>
        </p:spPr>
        <p:txBody>
          <a:bodyPr wrap="square" lIns="0" tIns="0" rIns="0" bIns="0" rtlCol="0" anchor="t"/>
          <a:lstStyle/>
          <a:p>
            <a:pPr indent="0" marL="0">
              <a:buNone/>
            </a:pPr>
            <a:r>
              <a:rPr lang="en-US" sz="1500" b="1" dirty="0">
                <a:solidFill>
                  <a:schemeClr val="tx2"/>
                </a:solidFill>
              </a:rPr>
              <a:t>Protocol</a:t>
            </a:r>
            <a:endParaRPr lang="en-US" sz="1500" dirty="0"/>
          </a:p>
        </p:txBody>
      </p:sp>
      <p:sp>
        <p:nvSpPr>
          <p:cNvPr id="22" name="Text 16"/>
          <p:cNvSpPr txBox="1"/>
          <p:nvPr/>
        </p:nvSpPr>
        <p:spPr>
          <a:xfrm>
            <a:off x="4617720" y="3108960"/>
            <a:ext cx="4114800" cy="594360"/>
          </a:xfrm>
          <a:prstGeom prst="rect">
            <a:avLst/>
          </a:prstGeom>
          <a:noFill/>
          <a:ln/>
        </p:spPr>
        <p:txBody>
          <a:bodyPr wrap="square" lIns="0" tIns="0" rIns="0" bIns="0" rtlCol="0" anchor="t"/>
          <a:lstStyle/>
          <a:p>
            <a:pPr indent="0" marL="0">
              <a:buNone/>
            </a:pPr>
            <a:r>
              <a:rPr lang="en-US" sz="1300" dirty="0">
                <a:solidFill>
                  <a:schemeClr val="tx1"/>
                </a:solidFill>
              </a:rPr>
              <a:t>Our own material + one specific question; every session logged in Discord with one template</a:t>
            </a:r>
            <a:endParaRPr lang="en-US" sz="1300" dirty="0"/>
          </a:p>
        </p:txBody>
      </p:sp>
      <p:sp>
        <p:nvSpPr>
          <p:cNvPr id="23" name="iconBg"/>
          <p:cNvSpPr/>
          <p:nvPr/>
        </p:nvSpPr>
        <p:spPr>
          <a:xfrm>
            <a:off x="4069080" y="3849624"/>
            <a:ext cx="411480" cy="411480"/>
          </a:xfrm>
          <a:prstGeom prst="ellipse">
            <a:avLst/>
          </a:prstGeom>
          <a:solidFill>
            <a:schemeClr val="accent1"/>
          </a:solidFill>
          <a:ln w="12700">
            <a:solidFill>
              <a:schemeClr val="accent1"/>
            </a:solidFill>
            <a:prstDash val="solid"/>
          </a:ln>
        </p:spPr>
      </p:sp>
      <p:pic>
        <p:nvPicPr>
          <p:cNvPr id="24" name="icon" descr="preencoded.png">    </p:cNvPr>
          <p:cNvPicPr>
            <a:picLocks noChangeAspect="1"/>
          </p:cNvPicPr>
          <p:nvPr/>
        </p:nvPicPr>
        <p:blipFill>
          <a:blip r:embed="rId5"/>
          <a:stretch>
            <a:fillRect/>
          </a:stretch>
        </p:blipFill>
        <p:spPr>
          <a:xfrm>
            <a:off x="4159606" y="3940150"/>
            <a:ext cx="230429" cy="230429"/>
          </a:xfrm>
          <a:prstGeom prst="rect">
            <a:avLst/>
          </a:prstGeom>
        </p:spPr>
      </p:pic>
      <p:sp>
        <p:nvSpPr>
          <p:cNvPr id="25" name="Text 18"/>
          <p:cNvSpPr txBox="1"/>
          <p:nvPr/>
        </p:nvSpPr>
        <p:spPr>
          <a:xfrm>
            <a:off x="4617720" y="3803904"/>
            <a:ext cx="4114800" cy="274320"/>
          </a:xfrm>
          <a:prstGeom prst="rect">
            <a:avLst/>
          </a:prstGeom>
          <a:noFill/>
          <a:ln/>
        </p:spPr>
        <p:txBody>
          <a:bodyPr wrap="square" lIns="0" tIns="0" rIns="0" bIns="0" rtlCol="0" anchor="t"/>
          <a:lstStyle/>
          <a:p>
            <a:pPr indent="0" marL="0">
              <a:buNone/>
            </a:pPr>
            <a:r>
              <a:rPr lang="en-US" sz="1500" b="1" dirty="0">
                <a:solidFill>
                  <a:schemeClr val="tx2"/>
                </a:solidFill>
              </a:rPr>
              <a:t>Validation</a:t>
            </a:r>
            <a:endParaRPr lang="en-US" sz="1500" dirty="0"/>
          </a:p>
        </p:txBody>
      </p:sp>
      <p:sp>
        <p:nvSpPr>
          <p:cNvPr id="26" name="Text 19"/>
          <p:cNvSpPr txBox="1"/>
          <p:nvPr/>
        </p:nvSpPr>
        <p:spPr>
          <a:xfrm>
            <a:off x="4617720" y="4078224"/>
            <a:ext cx="4114800" cy="594360"/>
          </a:xfrm>
          <a:prstGeom prst="rect">
            <a:avLst/>
          </a:prstGeom>
          <a:noFill/>
          <a:ln/>
        </p:spPr>
        <p:txBody>
          <a:bodyPr wrap="square" lIns="0" tIns="0" rIns="0" bIns="0" rtlCol="0" anchor="t"/>
          <a:lstStyle/>
          <a:p>
            <a:pPr indent="0" marL="0">
              <a:buNone/>
            </a:pPr>
            <a:r>
              <a:rPr lang="en-US" sz="1300" dirty="0">
                <a:solidFill>
                  <a:schemeClr val="tx1"/>
                </a:solidFill>
              </a:rPr>
              <a:t>Nothing used until checked against wezterm.org or the repo; owners confirmed every fix</a:t>
            </a:r>
            <a:endParaRPr lang="en-US" sz="1300" dirty="0"/>
          </a:p>
        </p:txBody>
      </p:sp>
      <p:sp>
        <p:nvSpPr>
          <p:cNvPr id="25" name="Slide Number Placeholder 0"/>
          <p:cNvSpPr>
            <a:spLocks noGrp="1"/>
          </p:cNvSpPr>
          <p:nvPr>
            <p:ph type="sldNum" sz="quarter" idx="4294967295"/>
          </p:nvPr>
        </p:nvSpPr>
        <p:spPr>
          <a:xfrm>
            <a:off x="8503920" y="4846320"/>
            <a:ext cx="411480" cy="20116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7315200" cy="685800"/>
          </a:xfrm>
          <a:prstGeom prst="rect">
            <a:avLst/>
          </a:prstGeom>
          <a:noFill/>
          <a:ln/>
        </p:spPr>
        <p:txBody>
          <a:bodyPr wrap="square" lIns="0" tIns="0" rIns="0" bIns="0" rtlCol="0" anchor="ctr"/>
          <a:lstStyle/>
          <a:p>
            <a:pPr algn="l" indent="0" marL="0">
              <a:buNone/>
            </a:pPr>
            <a:r>
              <a:rPr lang="en-US" sz="3600" b="1" dirty="0">
                <a:solidFill>
                  <a:schemeClr val="bg1"/>
                </a:solidFill>
                <a:latin typeface="Arial" pitchFamily="34" charset="0"/>
                <a:ea typeface="Arial" pitchFamily="34" charset="-122"/>
                <a:cs typeface="Arial" pitchFamily="34" charset="-120"/>
              </a:rPr>
              <a:t>Conclusion</a:t>
            </a:r>
            <a:endParaRPr lang="en-US" sz="3600" dirty="0"/>
          </a:p>
        </p:txBody>
      </p:sp>
      <p:sp>
        <p:nvSpPr>
          <p:cNvPr id="3" name="Text 1"/>
          <p:cNvSpPr txBox="1"/>
          <p:nvPr/>
        </p:nvSpPr>
        <p:spPr>
          <a:xfrm>
            <a:off x="548640" y="1325880"/>
            <a:ext cx="8046720" cy="457200"/>
          </a:xfrm>
          <a:prstGeom prst="rect">
            <a:avLst/>
          </a:prstGeom>
          <a:noFill/>
          <a:ln/>
        </p:spPr>
        <p:txBody>
          <a:bodyPr wrap="square" lIns="0" tIns="0" rIns="0" bIns="0" rtlCol="0" anchor="ctr"/>
          <a:lstStyle/>
          <a:p>
            <a:pPr indent="0" marL="0">
              <a:buNone/>
            </a:pPr>
            <a:r>
              <a:rPr lang="en-US" sz="1800" b="1" dirty="0">
                <a:solidFill>
                  <a:srgbClr val="34D399"/>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rPr>
              <a:t>Mux at the centre: </a:t>
            </a:r>
            <a:pPr indent="0" marL="0">
              <a:buNone/>
            </a:pPr>
            <a:r>
              <a:rPr lang="en-US" sz="1800" dirty="0">
                <a:solidFill>
                  <a:srgbClr val="DDD6FE"/>
                </a:solidFill>
              </a:rPr>
              <a:t>one Pane interface for local and remote sessions</a:t>
            </a:r>
            <a:endParaRPr lang="en-US" sz="1800" dirty="0"/>
          </a:p>
        </p:txBody>
      </p:sp>
      <p:sp>
        <p:nvSpPr>
          <p:cNvPr id="4" name="Text 2"/>
          <p:cNvSpPr txBox="1"/>
          <p:nvPr/>
        </p:nvSpPr>
        <p:spPr>
          <a:xfrm>
            <a:off x="548640" y="1947672"/>
            <a:ext cx="8046720" cy="457200"/>
          </a:xfrm>
          <a:prstGeom prst="rect">
            <a:avLst/>
          </a:prstGeom>
          <a:noFill/>
          <a:ln/>
        </p:spPr>
        <p:txBody>
          <a:bodyPr wrap="square" lIns="0" tIns="0" rIns="0" bIns="0" rtlCol="0" anchor="ctr"/>
          <a:lstStyle/>
          <a:p>
            <a:pPr indent="0" marL="0">
              <a:buNone/>
            </a:pPr>
            <a:r>
              <a:rPr lang="en-US" sz="1800" b="1" dirty="0">
                <a:solidFill>
                  <a:srgbClr val="34D399"/>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rPr>
              <a:t>Client–server: </a:t>
            </a:r>
            <a:pPr indent="0" marL="0">
              <a:buNone/>
            </a:pPr>
            <a:r>
              <a:rPr lang="en-US" sz="1800" dirty="0">
                <a:solidFill>
                  <a:srgbClr val="DDD6FE"/>
                </a:solidFill>
              </a:rPr>
              <a:t>sessions outlive the window that shows them</a:t>
            </a:r>
            <a:endParaRPr lang="en-US" sz="1800" dirty="0"/>
          </a:p>
        </p:txBody>
      </p:sp>
      <p:sp>
        <p:nvSpPr>
          <p:cNvPr id="5" name="Text 3"/>
          <p:cNvSpPr txBox="1"/>
          <p:nvPr/>
        </p:nvSpPr>
        <p:spPr>
          <a:xfrm>
            <a:off x="548640" y="2569464"/>
            <a:ext cx="8046720" cy="457200"/>
          </a:xfrm>
          <a:prstGeom prst="rect">
            <a:avLst/>
          </a:prstGeom>
          <a:noFill/>
          <a:ln/>
        </p:spPr>
        <p:txBody>
          <a:bodyPr wrap="square" lIns="0" tIns="0" rIns="0" bIns="0" rtlCol="0" anchor="ctr"/>
          <a:lstStyle/>
          <a:p>
            <a:pPr indent="0" marL="0">
              <a:buNone/>
            </a:pPr>
            <a:r>
              <a:rPr lang="en-US" sz="1800" b="1" dirty="0">
                <a:solidFill>
                  <a:srgbClr val="34D399"/>
                </a:solidFill>
                <a:latin typeface="Courier New" pitchFamily="34" charset="0"/>
                <a:ea typeface="Courier New" pitchFamily="34" charset="-122"/>
                <a:cs typeface="Courier New" pitchFamily="34" charset="-120"/>
              </a:rPr>
              <a:t>› </a:t>
            </a:r>
            <a:pPr indent="0" marL="0">
              <a:buNone/>
            </a:pPr>
            <a:r>
              <a:rPr lang="en-US" sz="1800" b="1" dirty="0">
                <a:solidFill>
                  <a:srgbClr val="FFFFFF"/>
                </a:solidFill>
              </a:rPr>
              <a:t>Publish–subscribe: </a:t>
            </a:r>
            <a:pPr indent="0" marL="0">
              <a:buNone/>
            </a:pPr>
            <a:r>
              <a:rPr lang="en-US" sz="1800" dirty="0">
                <a:solidFill>
                  <a:srgbClr val="DDD6FE"/>
                </a:solidFill>
              </a:rPr>
              <a:t>the Mux reports output without depending on the renderer</a:t>
            </a:r>
            <a:endParaRPr lang="en-US" sz="1800" dirty="0"/>
          </a:p>
        </p:txBody>
      </p:sp>
      <p:sp>
        <p:nvSpPr>
          <p:cNvPr id="6" name="Shape 4"/>
          <p:cNvSpPr/>
          <p:nvPr/>
        </p:nvSpPr>
        <p:spPr>
          <a:xfrm>
            <a:off x="548640" y="3291840"/>
            <a:ext cx="8046720" cy="566928"/>
          </a:xfrm>
          <a:prstGeom prst="roundRect">
            <a:avLst>
              <a:gd name="adj" fmla="val 12903"/>
            </a:avLst>
          </a:prstGeom>
          <a:solidFill>
            <a:srgbClr val="2A2148"/>
          </a:solidFill>
          <a:ln w="12700">
            <a:solidFill>
              <a:srgbClr val="4B3F86"/>
            </a:solidFill>
            <a:prstDash val="solid"/>
          </a:ln>
        </p:spPr>
      </p:sp>
      <p:sp>
        <p:nvSpPr>
          <p:cNvPr id="7" name="Text 5"/>
          <p:cNvSpPr txBox="1"/>
          <p:nvPr/>
        </p:nvSpPr>
        <p:spPr>
          <a:xfrm>
            <a:off x="731520" y="3291840"/>
            <a:ext cx="7772400" cy="566928"/>
          </a:xfrm>
          <a:prstGeom prst="rect">
            <a:avLst/>
          </a:prstGeom>
          <a:noFill/>
          <a:ln/>
        </p:spPr>
        <p:txBody>
          <a:bodyPr wrap="square" lIns="0" tIns="0" rIns="0" bIns="0" rtlCol="0" anchor="ctr"/>
          <a:lstStyle/>
          <a:p>
            <a:pPr indent="0" marL="0">
              <a:buNone/>
            </a:pPr>
            <a:r>
              <a:rPr lang="en-US" sz="1500" b="1" dirty="0">
                <a:solidFill>
                  <a:srgbClr val="34D399"/>
                </a:solidFill>
              </a:rPr>
              <a:t>Trade-off: </a:t>
            </a:r>
            <a:pPr indent="0" marL="0">
              <a:buNone/>
            </a:pPr>
            <a:r>
              <a:rPr lang="en-US" sz="1500" dirty="0">
                <a:solidFill>
                  <a:srgbClr val="FFFFFF"/>
                </a:solidFill>
              </a:rPr>
              <a:t>simplicity for capability. Control flow is harder to trace, and remote typing depends on latency.</a:t>
            </a:r>
            <a:endParaRPr lang="en-US" sz="1500" dirty="0"/>
          </a:p>
        </p:txBody>
      </p:sp>
      <p:sp>
        <p:nvSpPr>
          <p:cNvPr id="8" name="Shape 6"/>
          <p:cNvSpPr/>
          <p:nvPr/>
        </p:nvSpPr>
        <p:spPr>
          <a:xfrm>
            <a:off x="548640" y="4206240"/>
            <a:ext cx="1463040" cy="384048"/>
          </a:xfrm>
          <a:prstGeom prst="roundRect">
            <a:avLst>
              <a:gd name="adj" fmla="val 19048"/>
            </a:avLst>
          </a:prstGeom>
          <a:solidFill>
            <a:schemeClr val="accent2"/>
          </a:solidFill>
          <a:ln w="12700">
            <a:solidFill>
              <a:schemeClr val="accent2"/>
            </a:solidFill>
            <a:prstDash val="solid"/>
          </a:ln>
        </p:spPr>
      </p:sp>
      <p:sp>
        <p:nvSpPr>
          <p:cNvPr id="9" name="Text 7"/>
          <p:cNvSpPr txBox="1"/>
          <p:nvPr/>
        </p:nvSpPr>
        <p:spPr>
          <a:xfrm>
            <a:off x="548640" y="4206240"/>
            <a:ext cx="1463040"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TheZucks</a:t>
            </a:r>
            <a:endParaRPr lang="en-US" sz="1500" dirty="0"/>
          </a:p>
        </p:txBody>
      </p:sp>
      <p:sp>
        <p:nvSpPr>
          <p:cNvPr id="10" name="Text 8"/>
          <p:cNvSpPr txBox="1"/>
          <p:nvPr/>
        </p:nvSpPr>
        <p:spPr>
          <a:xfrm>
            <a:off x="2194560" y="4206240"/>
            <a:ext cx="4754880" cy="384048"/>
          </a:xfrm>
          <a:prstGeom prst="rect">
            <a:avLst/>
          </a:prstGeom>
          <a:noFill/>
          <a:ln/>
        </p:spPr>
        <p:txBody>
          <a:bodyPr wrap="square" lIns="0" tIns="0" rIns="0" bIns="0" rtlCol="0" anchor="ctr"/>
          <a:lstStyle/>
          <a:p>
            <a:pPr indent="0" marL="0">
              <a:buNone/>
            </a:pPr>
            <a:r>
              <a:rPr lang="en-US" sz="1400" dirty="0">
                <a:solidFill>
                  <a:schemeClr val="bg1"/>
                </a:solidFill>
              </a:rPr>
              <a:t>Thank you · report, slides and video on our group website</a:t>
            </a:r>
            <a:endParaRPr lang="en-US" sz="1400" dirty="0"/>
          </a:p>
        </p:txBody>
      </p:sp>
      <p:sp>
        <p:nvSpPr>
          <p:cNvPr id="11" name="Text 9"/>
          <p:cNvSpPr txBox="1"/>
          <p:nvPr/>
        </p:nvSpPr>
        <p:spPr>
          <a:xfrm>
            <a:off x="7132320" y="4206240"/>
            <a:ext cx="1463040" cy="384048"/>
          </a:xfrm>
          <a:prstGeom prst="rect">
            <a:avLst/>
          </a:prstGeom>
          <a:noFill/>
          <a:ln/>
        </p:spPr>
        <p:txBody>
          <a:bodyPr wrap="square" lIns="0" tIns="0" rIns="0" bIns="0" rtlCol="0" anchor="ctr"/>
          <a:lstStyle/>
          <a:p>
            <a:pPr algn="r" indent="0" marL="0">
              <a:buNone/>
            </a:pPr>
            <a:r>
              <a:rPr lang="en-US" sz="1600" dirty="0">
                <a:solidFill>
                  <a:srgbClr val="34D399"/>
                </a:solidFill>
                <a:latin typeface="Courier New" pitchFamily="34" charset="0"/>
                <a:ea typeface="Courier New" pitchFamily="34" charset="-122"/>
                <a:cs typeface="Courier New" pitchFamily="34" charset="-120"/>
              </a:rPr>
              <a:t>$ </a:t>
            </a:r>
            <a:pPr algn="r" indent="0" marL="0">
              <a:buNone/>
            </a:pPr>
            <a:r>
              <a:rPr lang="en-US" sz="1600" dirty="0">
                <a:solidFill>
                  <a:srgbClr val="FFFFFF"/>
                </a:solidFill>
                <a:latin typeface="Courier New" pitchFamily="34" charset="0"/>
                <a:ea typeface="Courier New" pitchFamily="34" charset="-122"/>
                <a:cs typeface="Courier New" pitchFamily="34" charset="-120"/>
              </a:rPr>
              <a:t>exit</a:t>
            </a:r>
            <a:endParaRPr lang="en-US" sz="1600" dirty="0"/>
          </a:p>
        </p:txBody>
      </p:sp>
    </p:spTree>
  </p:cSld>
  <p:clrMapOvr>
    <a:masterClrMapping/>
  </p:clrMapOvr>
</p:sld>
</file>

<file path=ppt/theme/theme1.xml><?xml version="1.0" encoding="utf-8"?>
<a:theme xmlns:a="http://schemas.openxmlformats.org/drawingml/2006/main" name="TheZucks Terminal">
  <a:themeElements>
    <a:clrScheme name="TheZucks Terminal">
      <a:dk1>
        <a:srgbClr val="1F1B2E"/>
      </a:dk1>
      <a:lt1>
        <a:srgbClr val="FFFFFF"/>
      </a:lt1>
      <a:dk2>
        <a:srgbClr val="2E1F66"/>
      </a:dk2>
      <a:lt2>
        <a:srgbClr val="F4F1FB"/>
      </a:lt2>
      <a:accent1>
        <a:srgbClr val="6D4AE0"/>
      </a:accent1>
      <a:accent2>
        <a:srgbClr val="0E9F6E"/>
      </a:accent2>
      <a:accent3>
        <a:srgbClr val="C2410C"/>
      </a:accent3>
      <a:accent4>
        <a:srgbClr val="64748B"/>
      </a:accent4>
      <a:accent5>
        <a:srgbClr val="DDD6FE"/>
      </a:accent5>
      <a:accent6>
        <a:srgbClr val="1B1530"/>
      </a:accent6>
      <a:hlink>
        <a:srgbClr val="6D4AE0"/>
      </a:hlink>
      <a:folHlink>
        <a:srgbClr val="4C1D95"/>
      </a:folHlink>
    </a:clrScheme>
    <a:fontScheme name="TheZucks Termi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WezTerm Conceptual Architecture (A1)</dc:title>
  <dc:subject>PptxGenJS Presentation</dc:subject>
  <dc:creator>TheZucks</dc:creator>
  <cp:lastModifiedBy>TheZucks</cp:lastModifiedBy>
  <cp:revision>1</cp:revision>
  <dcterms:created xsi:type="dcterms:W3CDTF">2026-10-10T00:41:06Z</dcterms:created>
  <dcterms:modified xsi:type="dcterms:W3CDTF">2026-10-10T00:41:06Z</dcterms:modified>
</cp:coreProperties>
</file>